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1A2E"/>
                </a:solidFill>
                <a:latin typeface="Microsoft JhengHei"/>
              </a:rPr>
              <a:t>守衛庫句數成長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守衛庫句數</c:v>
                </c:pt>
              </c:strCache>
            </c:strRef>
          </c:tx>
          <c:spPr>
            <a:solidFill>
              <a:srgbClr val="00C49A"/>
            </a:solidFill>
          </c:spPr>
          <c:cat>
            <c:strRef>
              <c:f>Sheet1!$A$2:$A$6</c:f>
              <c:strCache>
                <c:ptCount val="5"/>
                <c:pt idx="0">
                  <c:v>初期</c:v>
                </c:pt>
                <c:pt idx="1">
                  <c:v>conv100
收斂</c:v>
                </c:pt>
                <c:pt idx="2">
                  <c:v>第二戰役
短句認證</c:v>
                </c:pt>
                <c:pt idx="3">
                  <c:v>多輪
全枚舉</c:v>
                </c:pt>
                <c:pt idx="4">
                  <c:v>語音 POC
真人聲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</c:v>
                </c:pt>
                <c:pt idx="1">
                  <c:v>352</c:v>
                </c:pt>
                <c:pt idx="2">
                  <c:v>855</c:v>
                </c:pt>
                <c:pt idx="3">
                  <c:v>978</c:v>
                </c:pt>
                <c:pt idx="4">
                  <c:v>1149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2E"/>
                </a:solidFill>
                <a:latin typeface="Microsoft JhengHei"/>
              </a:rPr>
              <a:t>破口收斂軌跡：換新角度仍會再冒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每輪新抓到的問題數</c:v>
                </c:pt>
              </c:strCache>
            </c:strRef>
          </c:tx>
          <c:spPr>
            <a:solidFill>
              <a:srgbClr val="00C49A"/>
            </a:solidFill>
          </c:spPr>
          <c:cat>
            <c:strRef>
              <c:f>Sheet1!$A$2:$A$7</c:f>
              <c:strCache>
                <c:ptCount val="6"/>
                <c:pt idx="0">
                  <c:v>第一輪</c:v>
                </c:pt>
                <c:pt idx="1">
                  <c:v>第二輪</c:v>
                </c:pt>
                <c:pt idx="2">
                  <c:v>第三輪</c:v>
                </c:pt>
                <c:pt idx="3">
                  <c:v>第四輪</c:v>
                </c:pt>
                <c:pt idx="4">
                  <c:v>第五輪</c:v>
                </c:pt>
                <c:pt idx="5">
                  <c:v>換角度
(排程專項)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31</c:v>
                </c:pt>
                <c:pt idx="2">
                  <c:v>19</c:v>
                </c:pt>
                <c:pt idx="3">
                  <c:v>9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封面。定位：這是晶片團隊的軟體成果——一個能展示邊緣 AI 落地的真實應用。一句話說清楚產品：自然語言問倉管、秒級回答、跑在便宜的樹莓派上。三個數字：270M 是模型只有 2.7 億參數（業界主流 3B-8B 的零頭）、100+ 輪是品質收斂的迭代次數、100% 是回歸測試通過率。底線一句話點出硬體路線圖：現在純 CPU、下一步接自研晶片加速。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痛點對照。左邊是傳統倉管系統的四個痛：要學、層級深、現場難用、客製貴。右邊是本專案的解法：用講的、秒級答、手機掃碼、樹莓派就能跑。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七大查詢工具（唯讀）加一組 Agent 進階工具。前七個是訪客最常問的；第八格 Agent 進階包含根因分析（帳對不上時自動查原因）、自動補貨、定時排程。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四組真實對話。第三個示範「寫入類」操作有 HITL 確認卡——不會打字就直接改庫存，一定要按按鈕，避免誤操作。第四個是 Agent 根因分析：不只查數字，會推理為什麼對不上。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★Agent 定位頁。核心論點：這不是查詢工具，是會自己做事的 Agent。業界對 AI Agent 的標準定義＝感知→推理→行動三個能力，本系統三層都真的實作、背景在跑。感知：警示每小時掃、到期預警主動提醒。推理：RCA 三步根因分析（不只查現況，還找原因給建議）、自動補貨算量。行動：排程每分鐘檢查自動執行、一句話改庫存。分寸：HITL 確認卡不是缺點是優點——Agent 提案、人拍板，符合企業對 AI 落地的安全要求。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★動態模擬頁（2026-08-03 上線）。訪客第一眼就看到三倉數字在跳、告警橫幅自己出現——回應「倉庫不動很假」的展場回饋。查證過業界：現代倉儲就是 perpetual inventory，多數庫存變動沒有人對系統下指令（條碼槍/RFID/電商自動寫入），對話式 AI 是其上的查詢層——所以這不是演假資料，是把真實架構濃縮演出。工程重點四件事：①actor 不偽裝訪客操作，查異動看得到混合來源；②護欄讓它跑三天不壞；③效能課金誠實講：模擬灌出數十萬筆後，前端每 8 秒輪詢的異常掃描把兩核燒滿（py-spy 實錘），用 TTL 快取＋出貨日索引修復——這段也是很好的工程故事；④統計紀律：分析層一律排除模擬寫入，『昨天』永遠是乾淨歷史，數字對得起對帳。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招牌能力頁。這是軟體最難、最值得秀的地方：小模型還能扛住這些亂打。六類真實展場輸入——錯字、講一半、注音殘字、中英夾雜、語序顛倒、俗稱別名。全部抓對商品。這些例子都是實測語料裡的真句子，不是虛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OOV 容錯的技術原理：四層 fallback。①雜詞剝除②精確/錯字修復（同音錯字表+注音還原）③模糊比對 fuzzy（剝規格、雙向滑窗、字元重疊，容忍變體詞）④抓不到就反問（列疑似商品請選，絕不亂猜幻覺）。核心哲學：寧可反問，不可答錯。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六層架構，由上而下。核心洞見：270M 小模型輸出不穩定是先天限制，所以不讓它做決策，只做意圖分類與抽參數；真正的業務邏輯與精確計算放在Server 端的規則層（C0-C18）。這也是業界邊緣 Agent 的正解——小模型當路由器，不當決策者。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FastText 是 Facebook 開源的輕量文字分類技術：詞向量平均＋線性分類器，沒有生成、沒有推理，所以毫秒級、確定性（同句同答案）。重點澄清：FastText 出廠不帶任何分類類別——官方只有語言辨識模型和詞向量，意圖分類一定要自備語料從零訓練；我們的 14 類直接對應倉管工具名，訓練語料跟 LLM 微調同源（5,849 筆），所以 clf 和 LLM 判斷口徑一致。分工哲學：clf 管「做什麼」（路由），270M 管「參數是什麼」（抽取）——路由要穩定用分類器，抽取要泛化用 LLM，各用其長。高信心（conf≥0.8）且不需參數的功能直接跳過 LLM，是「一秒回答」的主要來源。彩蛋（可講）：這顆分類器曾因 fasttext×numpy2 不相容在展示機上靜默死亡三週，期間 100+ 輪、六套回歸照樣雙平台 100%——LLM+校正層獨自扛住，正是縱深防禦的實證；修復後展示機過半問題毫秒級回答、路由徽章首次亮起。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回應老闆可能的疑問：為什麼不用更大的模型？答案是刻意的取捨。270M 讓整套系統能在便宜硬體上離線跑，而把精確度靠規則層補足——這正是這個展示的技術亮點：用最小的模型做到可用的品質。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測試段開場。核心理念：不相信小模型天生可靠，而是靠測試把品質「逼」出來。展場訪客會用各種亂七八糟的方式打字，我們的做法是自己先模擬這些情境攻擊系統。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六套測試各有分工。守衛庫防回退、短句全枚舉證明產品本體、多輪對話證明上下文記憶、標準集與 OOV 集是路由準確率基準。全部在 Windows 開發機與樹莓派兩個平台都跑到 100% 才算過。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全枚舉的核心價值：把「多輪」這個看似無邊無際的東西，定義成一個可以數的空間——60 個商品乘上 33 種追問形，就是 1980 個兩輪對話。33 種追問形不是隨便想的，是從前面四輪隨機測試挖到的真 bug 反推出來的六大族。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全枚舉的成果。左右對比：四輪隨機測試挖到 27 個，但全枚舉一次照出 29 個——而且看得到全貌（1980 情境）。這 29 個高度集中在兩個根因，兩處修補就解決。最重要的發現：這些其實是單句就存在的 bug，全枚舉把舊測試的盲區補上了。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收斂的量化證據。左邊柱狀圖：守衛庫從 138 句一路長到 866 句，每個數字都是累積的防護網。右邊：多輪 bug 軌跡 6-7-6-8 沒收斂，正好證明隨機測試的極限，催生了全枚舉的方法。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這頁講測試方法論與現況。核心觀念：不是測一次就好，而是「百句實測→修→全量回歸」的循環，每輪刻意換訪客講話的角度（口語、邊界、連續對話、語音錯字），修完一輪再跑下一輪。</a:t>
            </a:r>
          </a:p>
          <a:p>
            <a:r>
              <a:rPr sz="1200">
                <a:latin typeface="Microsoft JhengHei"/>
              </a:rPr>
              <a:t>柱狀圖：英文互動線五輪從 38 個問題降到 3 個，連續兩輪低於 5 ⇒ **那條線**達到收斂判準。但第六柱是關鍵——換一個沒測過的角度（排程專項百句）又抓到 4 個，同期實際使用回報 4 件。</a:t>
            </a:r>
          </a:p>
          <a:p>
            <a:r>
              <a:rPr sz="1200">
                <a:latin typeface="Microsoft JhengHei"/>
              </a:rPr>
              <a:t>★ 這頁要傳達的重點不是『測完了』，而是『收斂是逐條功能線達標，換角度就會再冒』。老闆若問「那到底何時算好」：判準是每條功能線各自連兩輪 ≤5，加上實際使用回報趨近於零；目前英文互動線已達標，排程線剛開始測。</a:t>
            </a:r>
          </a:p>
          <a:p>
            <a:r>
              <a:rPr sz="1200">
                <a:latin typeface="Microsoft JhengHei"/>
              </a:rPr>
              <a:t>守衛庫補課：ZH 1122→1149、EN 892→938（7/20、7/25 後停止成長的缺口已補），下週要補課，否則新修的功能沒有防退步保護。</a:t>
            </a:r>
          </a:p>
          <a:p>
            <a:r>
              <a:rPr sz="1200">
                <a:latin typeface="Microsoft JhengHei"/>
              </a:rPr>
              <a:t>結論：收尾階段，下週續辦新角度輪＋守衛補課＋真人語音驗證，展前（9/2）完成交付。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★這頁回答「換角度是換什麼、還有哪些沒測」——老闆一定追問，而且要看到計畫不是「再測測看」。</a:t>
            </a:r>
          </a:p>
          <a:p>
            <a:r>
              <a:rPr sz="1200">
                <a:latin typeface="Microsoft JhengHei"/>
              </a:rPr>
              <a:t>左欄九個角度是 35+ 輪累積的實際批次。可以挑兩個講：短句全枚舉把 1-4 字的所有合理組合窮舉，等於把「多輪對話」這個看似無邊際的東西變成可數空間；搗蛋批連 SQL 注入（drop all tables）都測過。</a:t>
            </a:r>
          </a:p>
          <a:p>
            <a:r>
              <a:rPr sz="1200">
                <a:latin typeface="Microsoft JhengHei"/>
              </a:rPr>
              <a:t>右欄是**下週的具體排程**，每批都講得出打什麼句子：</a:t>
            </a:r>
          </a:p>
          <a:p>
            <a:r>
              <a:rPr sz="1200">
                <a:latin typeface="Microsoft JhengHei"/>
              </a:rPr>
              <a:t>① 真人語音 100 句——現有語音數據全來自單一錄音者加合成音，換人換麥克風必然冒新錯法（今天用四種 TTS 腔調挖過，800 句挖到 146 句未命中）。麥克風到貨當天就錄。</a:t>
            </a:r>
          </a:p>
          <a:p>
            <a:r>
              <a:rPr sz="1200">
                <a:latin typeface="Microsoft JhengHei"/>
              </a:rPr>
              <a:t>② 展場情境 100 句——這是全新角度：訪客是**站著**問的，語氣短促、容易被旁人打斷、會邊看螢幕邊改口。這些句型跟坐著打字完全不同。</a:t>
            </a:r>
          </a:p>
          <a:p>
            <a:r>
              <a:rPr sz="1200">
                <a:latin typeface="Microsoft JhengHei"/>
              </a:rPr>
              <a:t>③ 併發壓力 5 路×20——已測過 5 路同時送出不崩，但沒測過「排隊輪流講話」「麥克風被連續佔用」這種展場實況。</a:t>
            </a:r>
          </a:p>
          <a:p>
            <a:r>
              <a:rPr sz="1200">
                <a:latin typeface="Microsoft JhengHei"/>
              </a:rPr>
              <a:t>★ 若老闆問「這樣要測到什麼時候」：判準明確（連兩輪新破口 ≤5 且全為優雅降級），英文互動線已達標，這三批是最後的覆蓋缺口，展前完成。</a:t>
            </a:r>
          </a:p>
          <a:p>
            <a:r>
              <a:rPr sz="1200">
                <a:latin typeface="Microsoft JhengHei"/>
              </a:rPr>
              <a:t>★ 若老闆質疑在空轉：反過來看——能列出「還沒測什麼」而且說得出每批要打什麼、哪天做，代表測試是有地圖的。怕的不是有缺口，是不知道缺在哪。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★英文版路線決策頁。老闆要全英文版，我沒有直接開始翻譯——先用探針餵分級英文句給現有的中文微調模型，量出「純翻譯路線」會壞在哪。結果很清楚：乾淨查詢答得對（Gemma 的英文底子還在），但**招牌能力全滅**——英文錯字、模糊描述、寫入/調貨/RCA 意圖全部救不到。而容錯層正是這個 demo 的賣點，翻譯層先崩就輪不到後面，等於做出一個「白費版」。所以路線選**補英文語料微調**：不必全部重訓（base 英文能力本來就在），但要教它這套系統的 tool 慣例。右下三方對照是實測數字：base 未微調只有 11%（看得懂英文、不知道叫哪個 tool）；有趣的是**中文微調版跑英文有 32%**——證明 tool 慣例會跨語言遷移，用中文學的可以套到英文，這是微調買到的『領域判斷』而不只是語言；英文專訓版 73%。這頁的重點是：**決策有數據支撐，不是拍腦袋選路線**。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★這頁是給技術評審看的「移植的真實成本」。一般人以為做英文版＝翻譯 UI + 換模型，實際上**真正的工作量在散落各處的語言假設**——三個月為中文磨出來的規則層，每一條都藏著隱含假設。列五個最有代表性的（共歸納 19 類）：①21 個詞表全中文，英文句一個都不命中，被判成「只有商品名沒動作」全部轉 clarify。②更隱形的一類：對照表的**鍵**是中文（值反而是英文 slug），6 個類別 5 個查不到，而系統的導覽訊息還在教訪客這樣問。③門檻用中文字元數：英文字元數是中文 2-3 倍，'alert me when earphones drop below 30' 才 7 個詞卻 31 字元，正常句被當長句。④最危險的一類——**演算法本身假設中文形態**：用 split()[0] 剝規格尾巴，中文沒空白所以取第一段＝取全名，英文商品名全用空白分隔，`Wireless Mouse` 被腰斬成 `Wireless`，下一句追問就改到耳機的安全庫存＝**寫錯資料**。這種 bug 讀程式碼很難看出來（邏輯本身沒錯），只有跨句對話測試會暴露。⑤英文獨有的：英文化產生的撇號沒跳脫，整份 JS 語法錯誤停擺，但 HTML/CSS 照常渲染——畫面看起來正常、實際 WebSocket 從沒建立過。中文版永遠不會有這個 bug（中文沒撇號）。方法論：**逐句追 log 看實際執行路徑**，不要從症狀猜成因。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★英文版收斂成果頁。重點一：英文守衛庫是**重新建的 892 句**，不是把中文守衛翻譯過來——中文守衛大量測注音、同音字，英文沒有對應物；英文有自己的邊界（錯字型態、俗稱別名、英文閒聊搗蛋）。重點二：收斂曲線 651→873→891→892，每次跳動都是一批結構性 bug 被找出來，不是慢慢磨上去的。左下角這個教訓值得講：過程中**兩次**把『試過一種做法沒成功』寫成『這類問題無解』——第一次是 19 句雙錯字長尾，後來拆解發現是 8 個獨立的結構性 bug；第二次是最後那一句 `do we have scks`，記錄成『需要英文詞典依賴、救不了』，實際上樹莓派系統**內建**英文詞典，而且真正的成因根本不是字元相似度，是被守門員擋在門外。訊號一直都在，只是沒接上。右下角：守衛全綠≠畫面對，改用截圖逐一看過 25 個 view，抓到 JSON 看不到的破口——最典型的是卡片上明明寫著『To remove, say delete AL001』，訪客照打卻回『查無此商品』。最後一行：中英雙版在同一台樹莓派上並存，開機都自啟，訪客點瀏覽器分頁就能切語言。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語音 POC 全鏈架構（2026-07 新增）。核心設計：語音只是新入口，倉管後端完全不動。前端 Siri 式點一下自動結束；whisper.cpp 在 RPi5 純 CPU 離線辨識（展場無網路也能跑）；OpenCC 轉繁（僅中文版）+ 出口修正層清理 ASR 錯字；最後交回既有倉管 WS。同音修正層刻意只掛 /api/asr 出口——打字訪客零影響、守衛零風險。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【2026-08-06 定案：small + 量化 q8_0，中英同一顆】</a:t>
            </a:r>
          </a:p>
          <a:p>
            <a:r>
              <a:rPr sz="1200">
                <a:latin typeface="Microsoft JhengHei"/>
              </a:rPr>
              <a:t>① 為何是 small：tiny.en 與 base 對**台灣腔真人**明顯不夠——tiny 在合成音表現不錯，換真人就掉下來（選型不能只信 TTS）。small 才撐得住。</a:t>
            </a:r>
          </a:p>
          <a:p>
            <a:r>
              <a:rPr sz="1200">
                <a:latin typeface="Microsoft JhengHei"/>
              </a:rPr>
              <a:t>② 為何要量化：small 未量化 465MB、每句 10 秒以上，展場站著等不了。量化壓到 252MB、2.5 秒，準度幾乎不損 ⇒ 用 q8_0。</a:t>
            </a:r>
          </a:p>
          <a:p>
            <a:r>
              <a:rPr sz="1200">
                <a:latin typeface="Microsoft JhengHei"/>
              </a:rPr>
              <a:t>③ 為何是多語版不是英文專用版：多語模型訓練時看過大量非母語者講的英文，對台灣腔更寬容；英文專用版聽慣標準英美腔反而不適應。中英共用同一顆檔案，只靠 -l 旗標切語言，不必維護兩套框架。</a:t>
            </a:r>
          </a:p>
          <a:p>
            <a:r>
              <a:rPr sz="1200">
                <a:latin typeface="Microsoft JhengHei"/>
              </a:rPr>
              <a:t>④ 純模型 39% 看起來低，是因為判準「一字不差」。字元正確率 89%，容錯層接手後端到端 80% —— 那才是訪客體驗到的數字。</a:t>
            </a:r>
          </a:p>
          <a:p/>
          <a:p>
            <a:r>
              <a:rPr sz="1200">
                <a:latin typeface="Microsoft JhengHei"/>
              </a:rPr>
              <a:t>★語音選型頁（技術評審向）。**這一頁 2026-07-27 全面改版**：原本用阿里的 Fun-ASR-Nano，後來定調**只用歐美模型**（供應鏈來源可控），中英兩版都換成 OpenAI whisper.cpp。換完的額外好處：中英共用同一套 runtime，不必維護兩套框架。選型結果：英文版 tiny.en（74MB / 0.94s / WER 9.3%）、中文版 base（141MB / 2.15s）。兩個值得講的洞見——①**反直覺**：base.en 比 tiny.en 更大更慢，WER 反而略差（10.2% vs 9.3%），因為倉管查詢句短、句型固定，tiny 的容量已經夠用，變大的收益顯現不出來；這推翻『模型越大越好』的直覺，也呼應整個專案『選對尺寸勝過選大尺寸』的主張。②**選型不能只看 WER**：中文版 base 真人 8 句字面只對 3 句，但端到端 8/8 全部答對——聽錯的『盡量啤酒酷醇』『無限滑鼠擴存』『瑜伽店』全被文字端容錯層救回。這正好證明前面幾頁講的容錯層是真的在扛事情。代價誠實講：中文 base 2.15s/句比原本略慢，但中文版是備案、英文版才是展場主力（tiny.en 0.94s 很順）。英文數據為 TTS 合成音實測（5 腔調×20 句×3 噪音層），中文為 user 錄的真人音——TTS 是下限估計，評審追問據實說明。</a:t>
            </a:r>
          </a:p>
          <a:p>
            <a:r>
              <a:rPr sz="1200">
                <a:latin typeface="Microsoft JhengHei"/>
              </a:rPr>
              <a:t>**2026-08 演進（本頁現役列）**：英文先升級 small-q5_0＋-ac 640（比 tiny.en 更準且 3.45s/句——比 tiny.en 慢但台灣腔通過率 27%→60%，速度靠 -ac 640 從 6.7s 拉回）；8/5 手機麥克風實測暴露 base 中文極限（『藍牙耳機庫存』聽成音節碎片、容錯層救不動），以 user 自錄真人 100 句重跑基準：base 引擎 2.10s/CER中位 0.33、small 3.54s/0.25；**公平對稱端到端（同無修正層）base 36/100 vs small 47/100；small 掛回容錯層 66/100**——慢 1.4 秒買 +30 分答對率，且容錯層在 small 的詞形輸出上多救 19 分（47→66），驗證『輸出要像詞、救援鏈才接得上手』。中英自此統一同一顆 175MB 模型檔，只差 -l 語言旗標。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★語音部署架構頁（回應「語音這塊怎麼部署」「VAD 和 Encoder 現在怎麼做」）。**2026-07-27 隨 ASR 換型改版**：原本是 Fun-ASR 的三顆模型串起來跑——VAD（fsmn-vad 1.6MB，判斷何時在講話）＋Encoder（447MB，聲學編碼）＋Qwen3-0.6B 解碼器（461MB，生成文字），合計 910MB。換成 whisper 之後這三塊各自的去向如下，這是評審會追問的重點：</a:t>
            </a:r>
          </a:p>
          <a:p>
            <a:r>
              <a:rPr sz="1200">
                <a:latin typeface="Microsoft JhengHei"/>
              </a:rPr>
              <a:t>① **VAD → 移到前端瀏覽器，不用模型了**。whisper.cpp 本身有 VAD 支援（--vad 搭配 Silero 模型），但我們**沒有啟用**；改用 Web Audio API 在瀏覽器即時算 RMS 音量：偵測到開始講話後，靜音持續 1.2 秒就自動送出，另有 15 秒硬上限（展場吵雜時 VAD 可能永遠不收尾）。好處是零模型負擔、零延遲、麥克風端就地判斷；也是訪客體感「Siri 式點一下自動結束」的來源。</a:t>
            </a:r>
          </a:p>
          <a:p>
            <a:r>
              <a:rPr sz="1200">
                <a:latin typeface="Microsoft JhengHei"/>
              </a:rPr>
              <a:t>③ **-ac 640 是速度與長度上限的關鍵**（2026-08-06 補充）：whisper 預設一次處理 30 秒音訊（audio-ctx 1500），不足會補靜音湊滿——倉管問句只有 2-3 秒，等於九成算力花在算空白。削到 640（12.8 秒）速度快一倍且準度不掉。**副作用正好是優點**：它同時替語音輸入設了 12.8 秒上限，訪客講再長也不會無限吃資源。實測錄音最長 3.34 秒，12.8 秒留了近四倍餘裕；曾評估再削到 6.4 秒，但長句停頓會被截斷，定調維持 640。中英兩版都是這個值（英文走環境變數、中文寫在命令列）。</a:t>
            </a:r>
          </a:p>
          <a:p>
            <a:r>
              <a:rPr sz="1200">
                <a:latin typeface="Microsoft JhengHei"/>
              </a:rPr>
              <a:t>② **Encoder 與解碼器 → 合併成同一個模型檔**。whisper 是端到端的 encoder-decoder 架構，聲學編碼與文字解碼本來就在同一份權重裡，不像 Fun-ASR 要三個檔案分開載入。所以現在只有一顆 .bin，中英兩版只差 -m 參數指到 tiny.en 還是 base。</a:t>
            </a:r>
          </a:p>
          <a:p>
            <a:r>
              <a:rPr sz="1200">
                <a:latin typeface="Microsoft JhengHei"/>
              </a:rPr>
              <a:t>管線：前端錄 webm（含 VAD 自動停）→ ffmpeg 轉 16k mono → whisper-cli → OpenCC 轉繁（**只有中文版需要**，英文版已移除）→ 出口正規化（英文做大小寫攤平、中文做同音錯字修正）→ 交倉管 WS，全程本機無網路。**模型體積 910MB → 215MB、英文延遲 2.5s → 0.94s**——換掉來源不符的模型不但沒犧牲，反而更輕更快、架構更薄。</a:t>
            </a:r>
          </a:p>
          <a:p>
            <a:r>
              <a:rPr sz="1200">
                <a:latin typeface="Microsoft JhengHei"/>
              </a:rPr>
              <a:t>**2026-08 更新**：中英已統一為同一顆 ggml-small-q5_0.bin（175MB 多語、量化 q5_0），兩版只差 -l en / -l zh 語言旗標——連『兩顆模型』都省成一顆，部署與還原再薄一層。速度靠 -ac 640（audio-ctx 從 30 秒上下文削到短句實際需要）守住：EN 3.45s、ZH 3.54s/句（tiny.en 時代的 0.94-1.1s 是舊引擎數字，換 small 後中英同級）。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★語音展場可行性的量化證據。三環境通過率 78/77/73%——關鍵訊息是「噪音幾乎不影響」（light −1%、heavy −5%）。方法上的巧思：真人只念一次、存下錄音，之後自動混噪重測，念一次測三種環境、對比公平。三大發現：噪音不是問題、音量才是關鍵變數、失敗幾乎全是 ASR 模型極限（訪客重講可解）。最終結論：現有硬體（webcam + 270M）＋正常音量就夠展場用，不用花錢升級。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語音容錯兩層設計，都是真人聲實測一句句磨出來的。刻意分工：左＝拼音容錯層（技術主角）——處理「沒見過的音近錯」，靠智慧比對而非查表：ASR 錯字多是「同音但字形差很遠」（滑鼠→華數），字形比對救不到、轉拼音就中；做了捲舌平舌音節還原（zu→zhu、su→shu）；用滑窗掃整句找商品核心名拼音；門檻 0.82（太低會把衛生棉誤配衛生紙）。右＝固定規則修正——處理「反覆出現的固定錯」（倉別/動詞/量詞/異體字），這種錯每次都一樣，直接查表最快最穩，不需要智慧比對。兩層都只掛 ASR 出口、不碰 warehouse.py，所以打字訪客零影響、守衛零風險。下一頁用流程圖把拼音層的五步決策拆開講。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★拼音修正流程圖（老闆/評審最有感的一頁）。左邊是決策流程，右邊用同一句「北倉的滑鼠有多少」一路走到底。核心洞見：ASR 錯字的特徵是「音同、字形零重疊」（華數 vs 滑鼠一個字都不重疊），所以字形比對一定失敗、轉成拼音一比即中。五步：①字形優先（命中就不進拼音層，零回歸的保證）②三道排除閘（含寫入動詞/倉別/數字的句子不救——這是當初打壞 63 條守衛後加的，只救乾淨短查詢詞）③轉拼音時做捲舌平舌音節還原（zu→zhu、su→shu，因為台灣國語與 ASR 常把滑鼠 huashu 聽成華族 huazu）④滑窗比對商品核心名拼音⑤門檻 0.82。門檻 0.82 是實測血淚調出來的——放寬到 0.78 會把「衛生棉」誤配「衛生紙」（同 0.80），所以不靠放門檻、靠精準音節還原來拉開分數。全程純字串運算，RPi5 零算力負擔。救不到就回空、交給系統反問，絕不亂猜。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★聽錯→救回實例頁（技術評審最有感）。強調這些全是真人聲實測原始紀錄、不是虛構：中欄紅字是 ASR 真的聽錯的字，右欄綠字是容錯層怎麼救回。最漂亮的一句「北倉進五十個滑鼠」一次踩三種錯（倉別藏→倉、動詞近→進、商品名華族→滑鼠），三種修正機制同時作用救回、真的把 50 件寫進庫存。底部拼音證據解釋原理：ASR 錯字特徵是「音同/音近但字形零重疊」，字形比對必敗、轉拼音一比即中——這就是為什麼發音容錯層有效。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★極限與對策頁（誠實加分）。技術評審最怕看到只報喜不報憂——這頁專講救不回的。左表：ASR 把整詞聽成毫不相干的詞（瑜珈墊→女藥店、露營帳篷→女人占房、滑鼠→瓦數、缺→趣、防蚊液→防瘟疫），字形和發音都對不上，容錯層本來就不該硬救。右邊對策核心＝人在迴路：前端即時顯示辨識文字，訪客看到明顯錯字會自然重講——這比硬編同音規則安全得多（亂編規則救個案會誤傷別句）。另外三點：音量才是主因（正常音量下大半 FAIL 會消失）、展後靠 journal 問答記錄做回饋閉環補規則。分寸金句：救得到的自動救、救不到的交給人重講，絕不亂猜幻覺出錯商品——這正是整個系統『寧可反問、不可答錯』哲學在語音上的延伸。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★這頁回答一個很自然的質疑：「測了 11 輪、守衛全綠，怎麼還有破口？」答案是——**不是輪數不夠，是輸入源不夠多樣**。前面 11 輪的句子全是同一個作者（我）打字造的，作者的盲點會系統性重複，再跑 20 輪同樣方式也抓不到。所以換了兩個產生源：①**TTS 唸出來、whisper 聽回去**——產物型態跟打字完全不同（撇號縮寫、黏字、聽錯詞）；②**刻意寫「我自己不會寫的句型」**——換作者視角，展場訪客會客氣地問（could you tell me…）而不是打命令式（earphone stock）。TTS 基準批跑 100 句 × 3 噪音層共 300 次辨識，用的是真實賣場環境音混入：乾淨 92%、一般展場 92%、尖峰吵雜 91%——**噪音幾乎不影響**，whisper 對環境音的韌性比預期好。抓到的破口裡最值得講的是撇號那個：ASR **完全聽對**、LLM 也**完全判對**（keyword=mouse、warehouse=central 都抽對了），卻被防幻覺閘門把`what's` 當成「庫裡沒有的商品修飾詞」，於是清掉正確的 keyword，回了全店概覽。根因是閘門剝標點時只剝頭尾，撇號在字中間剝不掉。**這類破口打字訪客也會遇到**——撇號、禮貌用語、what about 追問都是，只是先前造句時沒想到。真正語音專屬的只有黏字（sunheadstock）和聽錯詞（mops→mobs）那兩類，那兩句實測**沒有可用訊號**能區分正確與誤配（mobs 最像的是 mouse 不是 mop），硬修會更糟，誠實留給補訓語料。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★真人語音實測頁（誠實面對落差，技術評審會問「你們測過真人嗎」）。**這是英文版第一份真人語音數據**——先前所有英文語音數字都來自 TTS 合成音。三段對照：①TTS 92%（US 腔 100 句）②真人非母語 55%（台灣腔 38 句，同一支 C930 麥克風、同一顆 whisper small-q5_0 模型、走完整語音鏈到倉管判定）③加 ASR 容錯層後 **79%**——關鍵是**同一批音檔、沒有重錄**，只在 ASR 出口加規則。**TTS 高估了 37 個百分點**，這與中文版的經驗一致（當時合成音 clean 100%、真人首測只有 35/52）——所以這個專案的鐵則是：合成音只能當下限篩檢，**掛了肯定不行，過了不代表可用**。三類錯法要分清楚：詞尾被吞（shipped→shed）是非母語者通病但母語者也有；連音（sun hat→some heat）母語者講快時更容易發生；整詞被替換（trash bags→trespass life）則**沒有可用訊號能修**，硬修會誤傷正常查詢，誠實留著。容錯層只收「有規律且驗證過不誤傷」的三類，並在真人音檔上驗證 +24%。⚠️ 評審若追問可靠度，要主動說明：79% 是 user 重錄挑最好那次的結果，**一次命中率更低**；展場訪客只有一次機會。母語者預估 75-85%（TTS 測五個腔調 GB93/US92/AU90/IN90/SG77，但 TTS 不等於真人）。最後一句是設計取捨：答不出來時系統會**誠實反問**而不是亂猜，所以錯的時候不會給出錯誤數字——這比硬湊一個答案安全。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★這頁講「真人講話、有背景音」的實際表現——最貼近展場的數字。</a:t>
            </a:r>
          </a:p>
          <a:p>
            <a:r>
              <a:rPr sz="1200">
                <a:latin typeface="Microsoft JhengHei"/>
              </a:rPr>
              <a:t>測法：user 本人錄 100 句，把賣場人潮音混進同一批錄音，分三種強度測。**沒有重錄任何一句**，變的只有背景音，所以三個數字可以直接比較。</a:t>
            </a:r>
          </a:p>
          <a:p>
            <a:r>
              <a:rPr sz="1200">
                <a:latin typeface="Microsoft JhengHei"/>
              </a:rPr>
              <a:t>① 為何有背景音反而略好（82% &gt; 80%）：差 2 句在雜訊範圍內，重點是「加了背景音沒有變差」——代表展場環境音在容忍範圍內。</a:t>
            </a:r>
          </a:p>
          <a:p>
            <a:r>
              <a:rPr sz="1200">
                <a:latin typeface="Microsoft JhengHei"/>
              </a:rPr>
              <a:t>② 為何「模型聽對只有四成」卻能答對八成：四成是「一個字都不能錯」的嚴格算法，實際上每 10 個字才錯 1 個（多是藍芽/藍牙這種同音字）。容錯層自動修掉這些，答對率就上到八成。</a:t>
            </a:r>
          </a:p>
          <a:p>
            <a:r>
              <a:rPr sz="1200">
                <a:latin typeface="Microsoft JhengHei"/>
              </a:rPr>
              <a:t>③ 救不回的怎麼辦：系統會反問「請再說一次」，不會硬猜。展場上訪客對「我聽不懂」的容忍度，遠高於「自信地答錯」。</a:t>
            </a:r>
          </a:p>
          <a:p>
            <a:r>
              <a:rPr sz="1200">
                <a:latin typeface="Microsoft JhengHei"/>
              </a:rPr>
              <a:t>★ 若被問母語者會不會更高：**不敢保證**——我們只測過台灣腔真人與合成音，而合成音已證實會高估。母語者從未實測，這是誠實的空白。</a:t>
            </a:r>
          </a:p>
          <a:p>
            <a:r>
              <a:rPr sz="1200">
                <a:latin typeface="Microsoft JhengHei"/>
              </a:rPr>
              <a:t>★ 若被問這數字可信嗎：這批是 2026-08-06 重跑的，不做任何人工放寬（先前版本曾把幾句「測法造成的假失敗」複判成通過，這次一律不做）。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★收斂日測試方法頁（2026-08-02）。核心訊息：**守衛全綠不代表沒問題**，換一個角度就抓到一批。這天用同一批 100 句真人錄音當輸入源，換了九個角度：真實 ASR 錯法重放、拼字變體、寫入資料正確性、惡意邊界輸入、跨查詢介面一致性、UI 提示句實際照打、多輪長對話、並發壓測、前端真實點擊、狀態污染。前四個角度各抓到破口，**最後兩輪（前端互動、狀態污染）零破口＝收斂訊號**。最嚴重的三個都跟資料正確性有關：①小數數量『進 1.5 個』開出 +5 的卡（中文版有保護、英文版判準要求中文量詞所以失效）②一句兩商品只記第一筆（中文版有攔截、英文版判準是中文量詞與連接詞）③寫入後查不到那筆（熱更新只更新庫存、漏了進出紀錄，中英文版都中）。**共同模式是「中文版有保護、英文版判準沒英文化」**——移植時要優先掃數值保護類的機制（上限、負數、零、小數），因為**路由錯訪客看得出來、數字錯不會**。整天守衛庫維持 892/892 零回歸。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強調這不是實驗室數據，是真的在樹莓派硬體上跑過的。33 小時連續、1600 次推論、溫度穩定不降速。右邊是展場特別做的穩定性設計：離線運行、斷線自癒、一鍵重置、寫入二次確認。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★硬體路線圖頁（點綴，但對晶片團隊的參展定位很重要）。左邊實色=現在已實測：270M 在 RPi5 純 CPU、20–30 t/s（模擬全開時 ~20、關閉 ~30）、六套回歸雙平台 100%、極低成本。右邊白底虛線框=下一階段 roadmap 目標（明確標成目標，不假裝已達成）：加自研晶片加速 → 跑 3B/7B 更大模型 → 能力從查詢升級到真正對話。核心訊息：軟體與應用已就緒，就等晶片把算力天花板拉高。誠實區分實測與目標，保住對評審的信任。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★雙機交付頁（2026-08-05 認證完成）。第二台從重建到可交客戶的完整故事：全量守衛1149+938 與 parity 跟主機同級全綠；耐力賽三輪（並發串線 26/26×6、長對話、劇情批）零異常零降頻；散熱裝好後待機 42°C、壓測 65.9°C。重建過程實際踩出 9 類缺口（字型/輸入法/DHCP/桌面圖示鏈/crontab/瀏覽器政策等），全部固化成還原手冊 §15『一次還原到底』——缺口清單＋照抄指令＋9 項驗收清單，這份手冊跟程式碼一起進版控。對客戶的意義：交付的不是一台調好的機器，是一套可重複、可驗收的交付流程。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總結五張卡：價值、技術、品質、語音、雙語。收尾一句下一步。整份簡報的主軸——用最小的模型、最便宜的硬體，做到可以用數字證明的品質。品質那張卡的兩個數字要記熟：中文守衛 1122 句雙平台 100%、英文守衛 892 句 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600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邊緣 AI 應用展示 · 晶片團隊軟體成果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05740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倉管 Agent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BBBBB"/>
                </a:solidFill>
                <a:latin typeface="Microsoft JhengHei"/>
              </a:rPr>
              <a:t>一句自然語言 → 秒級拿到正確答案，全程在一台 Raspberry Pi 上跑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42976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44622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270M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9560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邊緣級小模型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2976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44622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100+ 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49560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品質收斂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2976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44622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49560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雙平台回歸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77777"/>
                </a:solidFill>
                <a:latin typeface="Arial"/>
              </a:rPr>
              <a:t>FunctionGemma 270M 微調模型 × 多層校正架構 × RPi5 CPU 部署 → 下一步接自研晶片加速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倉管人員要的，不是又一套要學的系統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55448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7830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44444"/>
                </a:solidFill>
                <a:latin typeface="Microsoft JhengHei"/>
              </a:rPr>
              <a:t>傳統倉管系統</a:t>
            </a:r>
          </a:p>
        </p:txBody>
      </p:sp>
      <p:sp>
        <p:nvSpPr>
          <p:cNvPr id="6" name="Oval 5"/>
          <p:cNvSpPr/>
          <p:nvPr/>
        </p:nvSpPr>
        <p:spPr>
          <a:xfrm>
            <a:off x="987552" y="2423160"/>
            <a:ext cx="384048" cy="384048"/>
          </a:xfrm>
          <a:prstGeom prst="ellips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4094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48716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44444"/>
                </a:solidFill>
                <a:latin typeface="Microsoft JhengHei"/>
              </a:rPr>
              <a:t>要記選單在哪、欄位怎麼填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200400"/>
            <a:ext cx="384048" cy="384048"/>
          </a:xfrm>
          <a:prstGeom prst="ellips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1866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2644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44444"/>
                </a:solidFill>
                <a:latin typeface="Microsoft JhengHei"/>
              </a:rPr>
              <a:t>查個庫存點五六層才到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977640"/>
            <a:ext cx="384048" cy="384048"/>
          </a:xfrm>
          <a:prstGeom prst="ellips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639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404164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44444"/>
                </a:solidFill>
                <a:latin typeface="Microsoft JhengHei"/>
              </a:rPr>
              <a:t>現場拿手機打字，介面難用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754880"/>
            <a:ext cx="384048" cy="384048"/>
          </a:xfrm>
          <a:prstGeom prst="ellips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7411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81888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44444"/>
                </a:solidFill>
                <a:latin typeface="Microsoft JhengHei"/>
              </a:rPr>
              <a:t>客製一次動輒數十萬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5448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Microsoft JhengHei"/>
              </a:rPr>
              <a:t>倉管 Agent v2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42316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4094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48716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A1A2E"/>
                </a:solidFill>
                <a:latin typeface="Microsoft JhengHei"/>
              </a:rPr>
              <a:t>直接用講的：「藍牙耳機還剩幾個」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20040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1866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644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A1A2E"/>
                </a:solidFill>
                <a:latin typeface="Microsoft JhengHei"/>
              </a:rPr>
              <a:t>一句話秒級回答，免選單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97764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639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04164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A1A2E"/>
                </a:solidFill>
                <a:latin typeface="Microsoft JhengHei"/>
              </a:rPr>
              <a:t>掃 QR 手機就能問，展場離線也行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75488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411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81888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1A1A2E"/>
                </a:solidFill>
                <a:latin typeface="Microsoft JhengHei"/>
              </a:rPr>
              <a:t>一台樹莓派跑得動，硬體成本極低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訪客能問什麼：七大查詢 + 三類進階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60020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" y="183794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1965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243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庫存查詢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99008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商品 / 倉庫 / 類別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60020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58184" y="183794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181965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6243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進出紀錄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299008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今天 / 本週 / 本月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60020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824" y="183794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181965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6243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缺貨警示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99008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撐幾天 + 建議補多少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432" y="160020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27464" y="183794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181965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6243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倉庫比較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99008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任兩倉對比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370332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" y="394106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392277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72744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熱銷排行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50932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期間 / 類別 TOP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2152" y="370332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58184" y="394106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4" y="392277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4" y="472744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到期預警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8184" y="50932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N 天內即將過期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70332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92824" y="3941064"/>
            <a:ext cx="658368" cy="65836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392277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472744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相關推薦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2824" y="50932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購物籃搭售分析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71432" y="370332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27464" y="3941064"/>
            <a:ext cx="658368" cy="65836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27464" y="392277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7464" y="472744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Agent 進階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50932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根因分析 / 補貨 / 排程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HOW IT FEELS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訪客怎麼問，系統怎麼答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645920"/>
            <a:ext cx="4343400" cy="93268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" y="192024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9065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184" y="1755648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藍牙耳機還剩幾個</a:t>
            </a:r>
          </a:p>
        </p:txBody>
      </p:sp>
      <p:sp>
        <p:nvSpPr>
          <p:cNvPr id="8" name="Chevron 7"/>
          <p:cNvSpPr/>
          <p:nvPr/>
        </p:nvSpPr>
        <p:spPr>
          <a:xfrm>
            <a:off x="5166360" y="1947672"/>
            <a:ext cx="502920" cy="329184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566928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80760" y="1920240"/>
            <a:ext cx="384048" cy="38404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9065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55648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三倉共 227 件（北 141 / 中 42 / 南 44）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779776"/>
            <a:ext cx="4343400" cy="93268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" y="3054096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889504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哪些快沒貨了</a:t>
            </a:r>
          </a:p>
        </p:txBody>
      </p:sp>
      <p:sp>
        <p:nvSpPr>
          <p:cNvPr id="17" name="Chevron 16"/>
          <p:cNvSpPr/>
          <p:nvPr/>
        </p:nvSpPr>
        <p:spPr>
          <a:xfrm>
            <a:off x="5166360" y="3081528"/>
            <a:ext cx="502920" cy="329184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60" y="2779776"/>
            <a:ext cx="566928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0760" y="3054096"/>
            <a:ext cx="384048" cy="38404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89504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42 項低於安全庫存，最急：藍牙喇叭剩 15 件、12 天斷貨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3913632"/>
            <a:ext cx="4343400" cy="93268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4187952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1742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023360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北倉進 50 個滑鼠</a:t>
            </a:r>
          </a:p>
        </p:txBody>
      </p:sp>
      <p:sp>
        <p:nvSpPr>
          <p:cNvPr id="26" name="Chevron 25"/>
          <p:cNvSpPr/>
          <p:nvPr/>
        </p:nvSpPr>
        <p:spPr>
          <a:xfrm>
            <a:off x="5166360" y="4215384"/>
            <a:ext cx="502920" cy="329184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0" y="3913632"/>
            <a:ext cx="566928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80760" y="4187952"/>
            <a:ext cx="384048" cy="38404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1742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23360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跳出確認卡 → 按鈕確認才寫入庫存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5047488"/>
            <a:ext cx="4343400" cy="93268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3544" y="5321808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3080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5157216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電動牙刷的帳怎麼兜不起來</a:t>
            </a:r>
          </a:p>
        </p:txBody>
      </p:sp>
      <p:sp>
        <p:nvSpPr>
          <p:cNvPr id="35" name="Chevron 34"/>
          <p:cNvSpPr/>
          <p:nvPr/>
        </p:nvSpPr>
        <p:spPr>
          <a:xfrm>
            <a:off x="5166360" y="5349240"/>
            <a:ext cx="502920" cy="329184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52160" y="5047488"/>
            <a:ext cx="566928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80760" y="5321808"/>
            <a:ext cx="384048" cy="38404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53080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157216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自動查 PO → 找到短收 → 建議聯絡供應商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AGENT · 三層自動化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不是查詢介面，是會自己做事的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感知 → 推理 → 行動，業界對 AI Agent 的三個標準能力，本系統三層都真的實作、都在背景跑。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28800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1031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感知 · PERCEIVE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系統自己盯，不用人問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28800"/>
            <a:ext cx="7635240" cy="12984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0" y="2084832"/>
            <a:ext cx="310896" cy="310896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0711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93976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缺貨警示：背景每小時掃描，低於安全庫存主動推播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596896"/>
            <a:ext cx="310896" cy="310896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5831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06040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到期預警：自動追蹤保存期限，N 天內主動提醒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91840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566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推理 ·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40050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系統自己判斷該怎麼辦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291840"/>
            <a:ext cx="7635240" cy="12984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0" y="3547872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5341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557016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根因分析：帳兜不攏 → 自動掃 PO → 找短收 → 給建議（3 步推理）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0" y="4059936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40462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069080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自動補貨：算出撐幾天、該補多少，產採購單草稿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754880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029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行動 ·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546811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系統自己動手做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754880"/>
            <a:ext cx="7635240" cy="12984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800" y="5010912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9971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020056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定時排程：「每天 8 點跑盤點」背景每分鐘檢查、到點自動執行</a:t>
            </a:r>
          </a:p>
        </p:txBody>
      </p:sp>
      <p:sp>
        <p:nvSpPr>
          <p:cNvPr id="32" name="Oval 31"/>
          <p:cNvSpPr/>
          <p:nvPr/>
        </p:nvSpPr>
        <p:spPr>
          <a:xfrm>
            <a:off x="4114800" y="5522976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55092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532120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一句話改庫存：自然語言 → 抽參數 → 執行（10 種 HITL 確認把關）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LIVE WAREHOUSE · 動態模擬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倉庫自己會動：一天的進出貨濃縮成幾分鐘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8016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展場訪客盯著凍結快照看會覺得假。業界真實架構本來就是 perpetual inventory——庫存由條碼槍、RFID、電商訂單多來源即時更新，AI 助理是其上的對話層。模擬不是特效，是把真實架構演出來。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99339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13969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C49A"/>
                </a:solidFill>
                <a:latin typeface="Arial"/>
              </a:rPr>
              <a:t>200×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79806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時間加速（現場可調 1–400×）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1286" y="199339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5878" y="213969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C49A"/>
                </a:solidFill>
                <a:latin typeface="Arial"/>
              </a:rPr>
              <a:t>2.7s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878" y="279806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一輪背景進出貨寫入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99339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652" y="213969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C49A"/>
                </a:solidFill>
                <a:latin typeface="Arial"/>
              </a:rPr>
              <a:t>79%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652" y="279806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出庫占比＝seed 真值比例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8834" y="199339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3426" y="213969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C49A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3426" y="279806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對測試的干擾（守衛自動隔離）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" y="3502152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884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45643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真實來源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45643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背景寫入掛 pda_scan / wms_sync / ecom_order 三種 actor——訪客查異動看到混合來源，正好證明 Agent 看得到整個倉庫，不是只看得到自己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" y="4233672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2199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18795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護欄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418795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庫存在安全線 0.8–1.6 倍帶內波動、任何倉不低於 5 件——連跑三天不壞、reset 一鍵回乾淨基準（開機自動歸零，斷電/離線都免時鐘）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" y="4965192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9514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91947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誠實的代價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491947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模擬灌大資料曾把 CPU 燒滿（py-spy 抓到 /anomalies 每次輪詢全掃數十萬筆）——以 30 秒快取＋出貨日索引三層修復，CPU 200%→31%、查詢照常秒回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" y="5696712"/>
            <a:ext cx="310896" cy="31089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829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65099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數據紀律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565099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「昨天/報表/撐天」的統計永遠只取乾淨歷史——模擬寫入被分析層隔離，看得到即時跳動、算得出正確數字，兩者不打架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SIGNATURE · OOV 容錯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訪客怎麼亂打，系統照樣聽懂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展場訪客不會照規矩打字——錯字、注音殘字、講一半、中英夾雜、講俗稱。270M 小模型 + 多層容錯，照樣抓對商品。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74519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57399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錯字 / 同音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96311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「藍芽耳機」「汽泡水」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「悶燒灌」「瑜加墊」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10711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自動修正抓對商品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74519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399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講一半 / 不完整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96311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「那個充電的」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「洗衣的那個精」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410711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補全成完整商品名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1874519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057399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注音殘字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96311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「安全ㄎ存多少」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「那ㄍ快到期嗎」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410711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注音還原成國字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4041647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7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中英夾雜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63439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「藍牙 earphone 庫存」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「coffee 豆剩多少」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39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中英混打照抓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4041647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4224527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語序顛倒 / 口語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663439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「庫存藍牙耳機」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「剩多少氣泡水啊」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577839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不管詞序都懂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2712" y="4041647"/>
            <a:ext cx="3538728" cy="1965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4224527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8E76"/>
                </a:solidFill>
                <a:latin typeface="Microsoft JhengHei"/>
              </a:rPr>
              <a:t>俗稱 / 別名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663439"/>
            <a:ext cx="3081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「充手機的寶」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2E"/>
                </a:solidFill>
                <a:latin typeface="Microsoft JhengHei"/>
              </a:rPr>
              <a:t>「做瑜伽的墊子」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5577839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C49A"/>
                </a:solidFill>
                <a:latin typeface="Microsoft JhengHei"/>
              </a:rPr>
              <a:t>→ 對應到正式品名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HOW · 多層容錯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小模型抓不準？多層防線把它接住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270M 抽出的 keyword 常常髒、殘、錯。四層 fallback 逐層修，抓不到才反問——絕不亂猜、絕不幻覺出錯的商品。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74519"/>
            <a:ext cx="749808" cy="932688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74980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74519"/>
            <a:ext cx="996696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993391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222A45"/>
                </a:solidFill>
                <a:latin typeface="Microsoft JhengHei"/>
              </a:rPr>
              <a:t>雜詞剝除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774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剝掉倉庫名 / 量詞 / 語氣詞 / 功能詞尾巴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93391"/>
            <a:ext cx="67208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2E"/>
                </a:solidFill>
                <a:latin typeface="Microsoft JhengHei"/>
              </a:rPr>
              <a:t>北倉的藍芽耳機還有幾個  →  藍芽耳機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953511"/>
            <a:ext cx="749808" cy="932688"/>
          </a:xfrm>
          <a:prstGeom prst="roundRect">
            <a:avLst>
              <a:gd name="adj" fmla="val 8000"/>
            </a:avLst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953511"/>
            <a:ext cx="74980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953511"/>
            <a:ext cx="996696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072383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08E76"/>
                </a:solidFill>
                <a:latin typeface="Microsoft JhengHei"/>
              </a:rPr>
              <a:t>精確 / 錯字修復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56431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同音錯字表 + 注音還原，換成正確品名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72383"/>
            <a:ext cx="67208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2E"/>
                </a:solidFill>
                <a:latin typeface="Microsoft JhengHei"/>
              </a:rPr>
              <a:t>藍芽耳機  →  無線藍牙耳機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4032503"/>
            <a:ext cx="749808" cy="932688"/>
          </a:xfrm>
          <a:prstGeom prst="roundRect">
            <a:avLst>
              <a:gd name="adj" fmla="val 8000"/>
            </a:avLst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32503"/>
            <a:ext cx="74980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032503"/>
            <a:ext cx="996696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4151375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0C49A"/>
                </a:solidFill>
                <a:latin typeface="Microsoft JhengHei"/>
              </a:rPr>
              <a:t>模糊比對 fuzzy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35423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剝規格 + 雙向滑窗 + 字元重疊，容忍變體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51375"/>
            <a:ext cx="67208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2E"/>
                </a:solidFill>
                <a:latin typeface="Microsoft JhengHei"/>
              </a:rPr>
              <a:t>充手機的寶  →  行動電源 10000mAh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5111495"/>
            <a:ext cx="749808" cy="932688"/>
          </a:xfrm>
          <a:prstGeom prst="roundRect">
            <a:avLst>
              <a:gd name="adj" fmla="val 8000"/>
            </a:avLst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111495"/>
            <a:ext cx="74980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5111495"/>
            <a:ext cx="9966960" cy="9326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5230367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0A030"/>
                </a:solidFill>
                <a:latin typeface="Microsoft JhengHei"/>
              </a:rPr>
              <a:t>抓不到就反問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614415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列疑似商品請選，附庫存概況，絕不亂猜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230367"/>
            <a:ext cx="67208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2E"/>
                </a:solidFill>
                <a:latin typeface="Microsoft JhengHei"/>
              </a:rPr>
              <a:t>帽子  →  你是指遮陽帽還是毛帽？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小模型只做路由，業務邏輯交給伺服器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設計理念：270M 小模型負責「意圖分類」，Server 端負責精確計算與業務規則——讓 LLM 只做它擅長的事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2880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2880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828800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91109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44444"/>
                </a:solidFill>
                <a:latin typeface="Arial"/>
              </a:rPr>
              <a:t>使用者輸入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911096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口語自然語言（含錯字 / 注音 / 英文俗稱）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615184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61518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615184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2A45"/>
                </a:solidFill>
                <a:latin typeface="Arial"/>
              </a:rPr>
              <a:t>Query Rewriting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97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50+ 條規則（6 大類）把口語 → 標準句型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2369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340156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0156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401568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48386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E76"/>
                </a:solidFill>
                <a:latin typeface="Arial"/>
              </a:rPr>
              <a:t>intent_clf 主路由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483864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FastText 14 類意圖分類，先決定用哪個功能（98.9% 準，下頁詳介）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023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418795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18795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187952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27024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Arial"/>
              </a:rPr>
              <a:t>FunctionGemma 270M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27024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小模型只抽參數：商品 / 倉庫 / 時間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80974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497433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97433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3040" y="4974336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5056632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2A45"/>
                </a:solidFill>
                <a:latin typeface="Arial"/>
              </a:rPr>
              <a:t>dispatch + 校正層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056632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C0–C18 規則層：最後防線，擋幻覺、補接地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5961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57607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57607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5760720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584301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2E"/>
                </a:solidFill>
                <a:latin typeface="Arial"/>
              </a:rPr>
              <a:t>業務工具執行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843016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查詢 / 庫存異動 / 根因分析 / 排程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THE QUIET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小主角 FastText：路由交給穩的，生成交給會的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389888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14 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084832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自定義意圖標籤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286" y="1389888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5878" y="1536192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4.2MB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5878" y="2084832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intent_clf 量化模型（原 0.5GB）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389888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2" y="1536192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98.9%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9652" y="2084832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路由準確率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8834" y="1389888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3426" y="1536192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毫秒級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3426" y="2084832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CPU 路由延遲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2724912"/>
            <a:ext cx="5989320" cy="34015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92608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8E76"/>
                </a:solidFill>
                <a:latin typeface="Microsoft JhengHei"/>
              </a:rPr>
              <a:t>為什麼主路由不是 270M，是它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3456432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4427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38328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先分類、再生成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67588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每句先由 FastText 判斷「做什麼」，高信心直接跳過 LLM——實測過半句子根本不勞 270M 出手，一句回答快在這裡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4315968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3022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24281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確定性路由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535424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向量比對、同句永遠同答案，沒有 LLM 的浮點抖動——雙平台（WIN11 / RPi5）行為一致的基石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5175504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617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51023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從零訓練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539496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FastText 出廠不帶任何類別（它是演算法不是現成模型）；14 類依倉管工具集自定義，語料與 LLM 微調同源、判斷口徑一致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31152" y="2724912"/>
            <a:ext cx="4590288" cy="340156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2926080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E76"/>
                </a:solidFill>
                <a:latin typeface="Microsoft JhengHei"/>
              </a:rPr>
              <a:t>14 類意圖一覽（標籤名＝工具名）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4381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查詢 ×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30752"/>
            <a:ext cx="4005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庫存 / 進出 / 缺貨 / 熱銷 / 連帶 / 比倉 / 比期間 / 清單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鑑識 ×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498848"/>
            <a:ext cx="4005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查帳追根因（search_log 自動比對進出差異）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9743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控制 ×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266944"/>
            <a:ext cx="4005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改設定 / 警示 / 採購單 / 報表 / 白名單腳本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724144"/>
            <a:ext cx="4005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分類結果直接就是要呼叫的功能——沒有中間翻譯層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WHY SO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270M：故意選小，不是能力不足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60020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74650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270M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9514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本專案模型參數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286" y="160020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5878" y="174650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3-8B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5878" y="229514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業界主流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60020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2" y="174650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20–30 t/s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9652" y="229514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RPi5 CPU 推論速度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8834" y="160020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3426" y="174650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0C49A"/>
                </a:solidFill>
                <a:latin typeface="Arial"/>
              </a:rPr>
              <a:t>0 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3426" y="229514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雲端 API 費用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063240"/>
            <a:ext cx="10853928" cy="30175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291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E76"/>
                </a:solidFill>
                <a:latin typeface="Microsoft JhengHei"/>
              </a:rPr>
              <a:t>小模型的三個好處</a:t>
            </a:r>
          </a:p>
        </p:txBody>
      </p:sp>
      <p:sp>
        <p:nvSpPr>
          <p:cNvPr id="18" name="Oval 17"/>
          <p:cNvSpPr/>
          <p:nvPr/>
        </p:nvSpPr>
        <p:spPr>
          <a:xfrm>
            <a:off x="1033272" y="3813048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7993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7705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A1A2E"/>
                </a:solidFill>
                <a:latin typeface="Microsoft JhengHei"/>
              </a:rPr>
              <a:t>成本極低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387705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跑在一台樹莓派 CPU 上，不需 GPU、不付雲端 API 費用</a:t>
            </a:r>
          </a:p>
        </p:txBody>
      </p:sp>
      <p:sp>
        <p:nvSpPr>
          <p:cNvPr id="22" name="Oval 21"/>
          <p:cNvSpPr/>
          <p:nvPr/>
        </p:nvSpPr>
        <p:spPr>
          <a:xfrm>
            <a:off x="1033272" y="4526280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5125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59028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A1A2E"/>
                </a:solidFill>
                <a:latin typeface="Microsoft JhengHei"/>
              </a:rPr>
              <a:t>離線可用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2" y="4590288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展場用手機熱點就能跑，不依賴網路，資料不出場</a:t>
            </a:r>
          </a:p>
        </p:txBody>
      </p:sp>
      <p:sp>
        <p:nvSpPr>
          <p:cNvPr id="26" name="Oval 25"/>
          <p:cNvSpPr/>
          <p:nvPr/>
        </p:nvSpPr>
        <p:spPr>
          <a:xfrm>
            <a:off x="1033272" y="5239512"/>
            <a:ext cx="384048" cy="38404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52257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53035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A1A2E"/>
                </a:solidFill>
                <a:latin typeface="Microsoft JhengHei"/>
              </a:rPr>
              <a:t>定位精準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2" y="53035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270M 當「路由器」而非「決策者」——分類意圖它綽綽有餘，精確計算交給規則層，反而更穩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194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Arial"/>
              </a:rPr>
              <a:t>TESTING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65176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展場訪客會亂打字，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所以我們先自己把它打壞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4206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BBBBBB"/>
                </a:solidFill>
                <a:latin typeface="Microsoft JhengHei"/>
              </a:rPr>
              <a:t>小模型的先天限制是輸出不穩定。與其祈禱它不出錯，不如用大量真實情境反覆攻擊，把每個破口修掉、再存成回歸測試，確保永不重犯。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SIX TEST SUITES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六套回歸測試，全部雙平台 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63040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18488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508760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守衛庫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3672" y="1508760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1149 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508760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每次修 bug 都存成守衛，防止回退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68296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23744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14016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短句全枚舉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414016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953 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414016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60 商品 × 模板全展開，證明短句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273552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29000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107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319272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多輪對話全枚舉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3319272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1980 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3319272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首句 + 追問，證明「記得上一個商品」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4178808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334256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159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224528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未知商品抗性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4224528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60+ 情境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4224528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新增商品後查、問不存在的、撞名、亂取名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" y="5084064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5239512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212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5129784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81 題標準集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2" y="5129784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99%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62472" y="5129784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路由準確率基準測試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" y="5989320"/>
            <a:ext cx="10853928" cy="78638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" y="6144768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1264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1912" y="6035040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2E"/>
                </a:solidFill>
                <a:latin typeface="Microsoft JhengHei"/>
              </a:rPr>
              <a:t>OOV 口語集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2" y="6035040"/>
            <a:ext cx="1737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8E76"/>
                </a:solidFill>
                <a:latin typeface="Arial"/>
              </a:rPr>
              <a:t>98%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6035040"/>
            <a:ext cx="53035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沒見過的口語 / 錯字容錯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EXHAUSTIVE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怎麼證明「多輪對話」不會出錯？把它數出來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隨機測試永遠測不完，只是「抽樣」。真正的保證來自「窮舉」——把整個空間定義成可以數的組合，全部跑一遍。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194560"/>
            <a:ext cx="10853928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3957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C49A"/>
                </a:solidFill>
                <a:latin typeface="Microsoft JhengHei"/>
              </a:rPr>
              <a:t>多輪短句空間 = 可窮舉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788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60 </a:t>
            </a:r>
            <a:r>
              <a:rPr sz="1800" b="0">
                <a:solidFill>
                  <a:srgbClr val="BBBBBB"/>
                </a:solidFill>
                <a:latin typeface="Microsoft JhengHei"/>
              </a:rPr>
              <a:t>商品   ×   </a:t>
            </a:r>
            <a:r>
              <a:rPr sz="2600" b="1">
                <a:solidFill>
                  <a:srgbClr val="FFFFFF"/>
                </a:solidFill>
                <a:latin typeface="Arial"/>
              </a:rPr>
              <a:t>33 </a:t>
            </a:r>
            <a:r>
              <a:rPr sz="1800" b="0">
                <a:solidFill>
                  <a:srgbClr val="BBBBBB"/>
                </a:solidFill>
                <a:latin typeface="Microsoft JhengHei"/>
              </a:rPr>
              <a:t>種追問形   =   </a:t>
            </a:r>
            <a:r>
              <a:rPr sz="2600" b="1">
                <a:solidFill>
                  <a:srgbClr val="00C49A"/>
                </a:solidFill>
                <a:latin typeface="Arial"/>
              </a:rPr>
              <a:t>1980 </a:t>
            </a:r>
            <a:r>
              <a:rPr sz="1800" b="0">
                <a:solidFill>
                  <a:srgbClr val="FFFFFF"/>
                </a:solidFill>
                <a:latin typeface="Microsoft JhengHei"/>
              </a:rPr>
              <a:t>個兩輪對話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2E"/>
                </a:solidFill>
                <a:latin typeface="Microsoft JhengHei"/>
              </a:rPr>
              <a:t>33 種追問形 = 從實測 bug 反推的六大族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4389120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47141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代詞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447141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那個呢 / 它還剩幾個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4389120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447141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功能詞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447141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進出 / 到期 / 多少錢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4389120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447141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倉別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447141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南倉呢 / 北倉多少 / 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5138928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22122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語助詞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5221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呢 / 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5138928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522122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寫入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5221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北倉進 20 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46136" y="5138928"/>
            <a:ext cx="3566160" cy="62179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22122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錯字注音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5221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那個近出紀錄呢 / 安全ㄎ存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SWEEP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全枚舉抓出隨機測試漏掉的破口，一次修光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69164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Microsoft JhengHei"/>
              </a:rPr>
              <a:t>隨機採樣（4 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777777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2072" y="2697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個 bug / 102 情境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77777"/>
                </a:solidFill>
                <a:latin typeface="Microsoft JhengHei"/>
              </a:rPr>
              <a:t>只看到冰山一角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E76"/>
                </a:solidFill>
                <a:latin typeface="Microsoft JhengHei"/>
              </a:rPr>
              <a:t>全枚舉（1 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08E76"/>
                </a:solidFill>
                <a:latin typeface="Arial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97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8E76"/>
                </a:solidFill>
                <a:latin typeface="Microsoft JhengHei"/>
              </a:rPr>
              <a:t>個 bug / 1980 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8E76"/>
                </a:solidFill>
                <a:latin typeface="Microsoft JhengHei"/>
              </a:rPr>
              <a:t>通過率 98.5%，破口全面現形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4069080"/>
            <a:ext cx="10853928" cy="19202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279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29 個破口 → 兩個根因 → 兩處修補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75488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28 個  </a:t>
            </a:r>
            <a:r>
              <a:rPr sz="1350" b="0">
                <a:solidFill>
                  <a:srgbClr val="BBBBBB"/>
                </a:solidFill>
                <a:latin typeface="Microsoft JhengHei"/>
              </a:rPr>
              <a:t>共用字的商品（USB風扇 / 素T…）進出查詢把別的品項也算進去 → 加分數門檻，一修全清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5285232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1 個   </a:t>
            </a:r>
            <a:r>
              <a:rPr sz="1350" b="0">
                <a:solidFill>
                  <a:srgbClr val="BBBBBB"/>
                </a:solidFill>
                <a:latin typeface="Microsoft JhengHei"/>
              </a:rPr>
              <a:t>「清潔手套」的「清潔」被誤當類別詞 → 商品名優先，讓給完整比對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77777"/>
                </a:solidFill>
                <a:latin typeface="Microsoft JhengHei"/>
              </a:rPr>
              <a:t>關鍵發現：這些其實是「單句就會錯」的 bug，只是舊測試沒涵蓋到這幾個商品的這個功能組合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100+ 輪迭代，守衛庫從 138 句長到 1149 句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67512" y="1600200"/>
          <a:ext cx="55778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6002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10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2E"/>
                </a:solidFill>
                <a:latin typeface="Microsoft JhengHei"/>
              </a:rPr>
              <a:t>多輪真 bug 軌跡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r32→r35：</a:t>
            </a:r>
            <a:r>
              <a:rPr sz="2000" b="1">
                <a:solidFill>
                  <a:srgbClr val="F0A030"/>
                </a:solidFill>
                <a:latin typeface="Arial"/>
              </a:rPr>
              <a:t>  6 → 7 → 6 →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8803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四輪隨機測試沒收斂——每輪只看到不同角落。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這反而證明：光靠隨機測不夠，必須全枚舉。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97763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全枚舉修完：</a:t>
            </a:r>
            <a:r>
              <a:rPr sz="1500" b="1">
                <a:solidFill>
                  <a:srgbClr val="008E76"/>
                </a:solidFill>
                <a:latin typeface="Microsoft JhengHei"/>
              </a:rPr>
              <a:t>  1980 / 1980 全綠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5212080"/>
            <a:ext cx="10853928" cy="86868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5394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8E76"/>
                </a:solidFill>
                <a:latin typeface="Microsoft JhengHei"/>
              </a:rPr>
              <a:t>每修一個 bug 就存一句守衛 → 1149 句形成防護網，任何改動只要跑回歸就知道有沒有踩壞舊功能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自動測試迭代：百句實測 → 修 → 回歸；逐條功能線收斂，換角度再測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81328"/>
            <a:ext cx="2048256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09344"/>
            <a:ext cx="0" cy="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0" cy="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36776"/>
            <a:ext cx="1408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1. 產生測試批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21408"/>
            <a:ext cx="17739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每輪 100 句全新、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刻意換角度：口語、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邊界、劇情、語音錯字</a:t>
            </a:r>
          </a:p>
        </p:txBody>
      </p:sp>
      <p:sp>
        <p:nvSpPr>
          <p:cNvPr id="9" name="Chevron 8"/>
          <p:cNvSpPr/>
          <p:nvPr/>
        </p:nvSpPr>
        <p:spPr>
          <a:xfrm>
            <a:off x="2697480" y="2258568"/>
            <a:ext cx="210312" cy="274320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9504" y="1481328"/>
            <a:ext cx="2048256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9232" y="1609344"/>
            <a:ext cx="0" cy="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591056"/>
            <a:ext cx="0" cy="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636776"/>
            <a:ext cx="1408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2. 瀏覽器自動實測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121408"/>
            <a:ext cx="17739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程式模擬真訪客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打字送出，逐句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截圖存證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9472" y="2258568"/>
            <a:ext cx="210312" cy="274320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1496" y="1481328"/>
            <a:ext cx="2048256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21224" y="1609344"/>
            <a:ext cx="0" cy="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1591056"/>
            <a:ext cx="0" cy="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1636776"/>
            <a:ext cx="1408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3. 逐句判定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121408"/>
            <a:ext cx="17739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✅ 正確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🟡 合理降級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❌ 破口</a:t>
            </a:r>
          </a:p>
        </p:txBody>
      </p:sp>
      <p:sp>
        <p:nvSpPr>
          <p:cNvPr id="21" name="Chevron 20"/>
          <p:cNvSpPr/>
          <p:nvPr/>
        </p:nvSpPr>
        <p:spPr>
          <a:xfrm>
            <a:off x="7141464" y="2258568"/>
            <a:ext cx="210312" cy="274320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33488" y="1481328"/>
            <a:ext cx="2048256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43216" y="1609344"/>
            <a:ext cx="0" cy="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1591056"/>
            <a:ext cx="0" cy="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1636776"/>
            <a:ext cx="1408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4. 追根因修復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121408"/>
            <a:ext cx="17739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看執行 log 定位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卡在哪一層，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對症下藥不亂猜</a:t>
            </a:r>
          </a:p>
        </p:txBody>
      </p:sp>
      <p:sp>
        <p:nvSpPr>
          <p:cNvPr id="27" name="Chevron 26"/>
          <p:cNvSpPr/>
          <p:nvPr/>
        </p:nvSpPr>
        <p:spPr>
          <a:xfrm>
            <a:off x="9363456" y="2258568"/>
            <a:ext cx="210312" cy="274320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480" y="1481328"/>
            <a:ext cx="2048256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5208" y="1609344"/>
            <a:ext cx="0" cy="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5208" y="1591056"/>
            <a:ext cx="0" cy="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2408" y="1636776"/>
            <a:ext cx="1408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2E"/>
                </a:solidFill>
                <a:latin typeface="Microsoft JhengHei"/>
              </a:rPr>
              <a:t>5. 回歸與部署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1784" y="2121408"/>
            <a:ext cx="17739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中 1149＋英 938 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守衛防「修A壞B」，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三處版控雙機同步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3428999"/>
            <a:ext cx="10853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↺  一輪修完不算完——換一批全新句子、換一種訪客講話方式，再跑下一輪，直到連續兩輪幾乎抓不到新問題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67512" y="4041648"/>
          <a:ext cx="53949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355080" y="4041648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18795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2E"/>
                </a:solidFill>
                <a:latin typeface="Microsoft JhengHei"/>
              </a:rPr>
              <a:t>收斂判準（工程標準）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59028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連續兩輪新問題 ≤ 5 且全為優雅降級  </a:t>
            </a:r>
            <a:r>
              <a:rPr sz="1300" b="1">
                <a:solidFill>
                  <a:srgbClr val="008E76"/>
                </a:solidFill>
                <a:latin typeface="Microsoft JhengHei"/>
              </a:rPr>
              <a:t>→ 英文互動線已達標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502920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但收斂是「逐條功能線」達標，不是全案結案：換新角度測（排程專項）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仍抓到 4 個破口，實際使用回報 4 件。⇒ 下週持續：新角度輪 + 守衛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庫補課（近期修復尚未全數納入回歸語料）。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" y="6144768"/>
            <a:ext cx="10853928" cy="54864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624535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收尾階段   </a:t>
            </a:r>
            <a:r>
              <a:rPr sz="1300" b="0">
                <a:solidFill>
                  <a:srgbClr val="444444"/>
                </a:solidFill>
                <a:latin typeface="Microsoft JhengHei"/>
              </a:rPr>
              <a:t>▸  下週續辦：新角度輪、守衛庫補課、真人語音驗證   </a:t>
            </a:r>
            <a:r>
              <a:rPr sz="1350" b="1">
                <a:solidFill>
                  <a:srgbClr val="1A1A2E"/>
                </a:solidFill>
                <a:latin typeface="Microsoft JhengHei"/>
              </a:rPr>
              <a:t>▸  展前（9/2）完成交付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TEST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「換角度」換的是什麼：已測 35+ 輪的角度盤點與剩餘缺口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070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每輪刻意換一種「訪客會怎麼講話」的角度，而不是同一批句子重跑。下表是已覆蓋的角度、以及展前還要補的三塊。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00784"/>
            <a:ext cx="6537960" cy="40416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2880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✅ 已覆蓋的角度（35+ 輪累積）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2128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訪客講話方式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2128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口語簡稱、模糊描述、禮貌繞圈、一句多意圖、代稱追問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輸入型態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9689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打字錯字、注音殘留、黏字漏空格、大小寫、標點缺失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809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對話結構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9809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多輪劇情、上下文接續、反悔改單、中途插話、確認代按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64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業務語境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364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營運詞彙（滯銷/呆料/撐天）、期間表達、跨倉比較、排除語境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7490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邊界與異常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7490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查無商品、數量為零/負、超量調撥、不支援期間、重複排程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133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搗蛋與離題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330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閒聊、辱罵、注入攻擊（drop all tables）、問系統身世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51713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語音輸入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51713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ASR 錯字型態、同音字、四種腔調 TTS、三層噪音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9011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功能面全覆蓋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90118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七大查詢 × 三類 Agent 工具 × 排程/警示全生命週期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52852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2E"/>
                </a:solidFill>
                <a:latin typeface="Microsoft JhengHei"/>
              </a:rPr>
              <a:t>· 短句全枚舉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285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1-4 字的所有合理組合（把「多輪」變成可數空間）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700784"/>
            <a:ext cx="4041648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828800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85D5D"/>
                </a:solidFill>
                <a:latin typeface="Microsoft JhengHei"/>
              </a:rPr>
              <a:t>📋 下週排程：三個新角度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24942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2E"/>
                </a:solidFill>
                <a:latin typeface="Microsoft JhengHei"/>
              </a:rPr>
              <a:t>· ① 真人語音批 · 100 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523744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新麥克風到貨後重錄；重點打「換人、換口音」的新錯法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1089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E76"/>
                </a:solidFill>
                <a:latin typeface="Microsoft JhengHei"/>
              </a:rPr>
              <a:t>時程：麥克風到貨當天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4564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2E"/>
                </a:solidFill>
                <a:latin typeface="Microsoft JhengHei"/>
              </a:rPr>
              <a:t>· ② 展場情境批 · 100 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3730752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站著問的短促語氣、被打斷重問、旁人插話、邊看螢幕邊改口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431596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E76"/>
                </a:solidFill>
                <a:latin typeface="Microsoft JhengHei"/>
              </a:rPr>
              <a:t>時程：下週一～二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4663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2E"/>
                </a:solidFill>
                <a:latin typeface="Microsoft JhengHei"/>
              </a:rPr>
              <a:t>· ③ 併發壓力批 · 5 路 ×20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493776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</a:rPr>
              <a:t>排隊輪流講話、麥克風連續佔用、同時送出的搶鎖情境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552297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E76"/>
                </a:solidFill>
                <a:latin typeface="Microsoft JhengHei"/>
              </a:rPr>
              <a:t>時程：下週三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" y="5925312"/>
            <a:ext cx="10853928" cy="65836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6035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Microsoft JhengHei"/>
              </a:rPr>
              <a:t>下週產出  </a:t>
            </a:r>
            <a:r>
              <a:rPr sz="1200" b="1">
                <a:solidFill>
                  <a:srgbClr val="FFFFFF"/>
                </a:solidFill>
                <a:latin typeface="Microsoft JhengHei"/>
              </a:rPr>
              <a:t>三批共 220 句實測 → 修復 → 全量回歸 → 納入守衛庫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——角度是先宣告再打，不是測完才回頭找名目；每批的破口數與修復清單都會留紀錄，收斂判準同前頁（連兩輪 ≤5 且全為優雅降級）。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ENGLISH BUILD · 路線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做英文版不是翻譯——翻譯會讓招牌能力全滅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老闆要全英文版。動工前先用探針餵分級英文句給現有模型，量出「翻譯路線」到底會壞在哪——結論決定了整條路線。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5321808" cy="3200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2E"/>
                </a:solidFill>
                <a:latin typeface="Microsoft JhengHei"/>
              </a:rPr>
              <a:t>探針實測：純翻譯會壞在哪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E76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3134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乾淨查詢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58775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how many bluetooth earphones left → 答對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53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5D5D"/>
                </a:solidFill>
                <a:latin typeface="Arial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9352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5D5D"/>
                </a:solidFill>
                <a:latin typeface="Microsoft JhengHei"/>
              </a:rPr>
              <a:t>英文錯字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320954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earphon → 完全對不到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75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5D5D"/>
                </a:solidFill>
                <a:latin typeface="Arial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355701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5D5D"/>
                </a:solidFill>
                <a:latin typeface="Microsoft JhengHei"/>
              </a:rPr>
              <a:t>模糊描述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8313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the thing that charges phone → 不懂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97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5D5D"/>
                </a:solidFill>
                <a:latin typeface="Arial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417880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5D5D"/>
                </a:solidFill>
                <a:latin typeface="Microsoft JhengHei"/>
              </a:rPr>
              <a:t>寫入 / 調貨 / RCA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445312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add / move / why → 全歸零查詢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783080"/>
            <a:ext cx="5321808" cy="3200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9202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2E"/>
                </a:solidFill>
                <a:latin typeface="Microsoft JhengHei"/>
              </a:rPr>
              <a:t>三條路線，選了中間那條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2377440"/>
            <a:ext cx="47731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2432304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777777"/>
                </a:solidFill>
                <a:latin typeface="Microsoft JhengHei"/>
              </a:rPr>
              <a:t>翻譯層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724912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最省事，但容錯層先崩就輪不到後面——等於白費版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218688"/>
            <a:ext cx="4773168" cy="713232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651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27355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★ 補英文語料微調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566160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Gemma 英文底子還在，教它這套系統的 tool 慣例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4059936"/>
            <a:ext cx="47731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411480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777777"/>
                </a:solidFill>
                <a:latin typeface="Microsoft JhengHei"/>
              </a:rPr>
              <a:t>全部重訓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407408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成本最高，但 base 英文能力本來就在，沒必要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" y="5138928"/>
            <a:ext cx="10853928" cy="1408176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5285232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Microsoft JhengHei"/>
              </a:rPr>
              <a:t>三方對照：同一份 34 句英文評測集（本機 llama.cpp 實跑）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" y="565099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77777"/>
                </a:solidFill>
                <a:latin typeface="Arial"/>
              </a:rPr>
              <a:t>11%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566928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base 未微調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" y="608990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BBBBB"/>
                </a:solidFill>
                <a:latin typeface="Microsoft JhengHei"/>
              </a:rPr>
              <a:t>看得懂英文，但不知道該叫哪個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65099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32%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566928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中文微調版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608990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BBBBB"/>
                </a:solidFill>
                <a:latin typeface="Microsoft JhengHei"/>
              </a:rPr>
              <a:t>tool 慣例跨語言遷移——用中文學的可套到英文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565099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C49A"/>
                </a:solidFill>
                <a:latin typeface="Arial"/>
              </a:rPr>
              <a:t>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566928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英文微調版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608990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BBBBB"/>
                </a:solidFill>
                <a:latin typeface="Microsoft JhengHei"/>
              </a:rPr>
              <a:t>基本查詢 12/12、錯字全中、RCA 3/3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ENGLISH BUILD · 真正的工作量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移植的難處不在模型，在散落各處的語言假設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模型換好只是開始。真正吃時間的是三個月為中文磨出來的規則層——每一條都藏著「這是中文」的隱含假設。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55648"/>
            <a:ext cx="10853928" cy="7680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1755648"/>
            <a:ext cx="64008" cy="768096"/>
          </a:xfrm>
          <a:prstGeom prst="rect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82880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22A45"/>
                </a:solidFill>
                <a:latin typeface="Microsoft JhengHei"/>
              </a:rPr>
              <a:t>詞表是中文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15798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7777"/>
                </a:solidFill>
                <a:latin typeface="Microsoft JhengHei"/>
              </a:rPr>
              <a:t>坑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18288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_ALL_INTENT_WORDS 等 21 個詞表全中文 → 英文句一個都不命中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15798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2" y="193852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44444"/>
                </a:solidFill>
                <a:latin typeface="Microsoft JhengHei"/>
              </a:rPr>
              <a:t>英文句被判成「只有商品名沒動作」，整批轉 clarify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615184"/>
            <a:ext cx="1085392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2615184"/>
            <a:ext cx="64008" cy="768096"/>
          </a:xfrm>
          <a:prstGeom prst="rect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68833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對照表的鍵是中文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7777"/>
                </a:solidFill>
                <a:latin typeface="Microsoft JhengHei"/>
              </a:rPr>
              <a:t>坑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68833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{"電子": "electronics"} ——值是英文、鍵是中文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01752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798064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44444"/>
                </a:solidFill>
                <a:latin typeface="Microsoft JhengHei"/>
              </a:rPr>
              <a:t>6 個類別 5 個查不到，整條類別查詢功能靜默失效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474720"/>
            <a:ext cx="10853928" cy="7680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474720"/>
            <a:ext cx="64008" cy="768096"/>
          </a:xfrm>
          <a:prstGeom prst="rect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54787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Microsoft JhengHei"/>
              </a:rPr>
              <a:t>門檻用中文字元數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387705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7777"/>
                </a:solidFill>
                <a:latin typeface="Microsoft JhengHei"/>
              </a:rPr>
              <a:t>坑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54787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長句判定 &gt;30 字元；英文字元數是中文的 2-3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8770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44444"/>
                </a:solidFill>
                <a:latin typeface="Microsoft JhengHei"/>
              </a:rPr>
              <a:t>正常英文句被當長句，幾乎全部繞過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4334256"/>
            <a:ext cx="1085392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" y="4334256"/>
            <a:ext cx="64008" cy="768096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40740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5D5D"/>
                </a:solidFill>
                <a:latin typeface="Microsoft JhengHei"/>
              </a:rPr>
              <a:t>演算法假設中文形態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473659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7777"/>
                </a:solidFill>
                <a:latin typeface="Microsoft JhengHei"/>
              </a:rPr>
              <a:t>坑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440740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split()[0] 剝規格尾巴——中文沒空白所以安全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47365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2" y="4517136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D5D"/>
                </a:solidFill>
                <a:latin typeface="Microsoft JhengHei"/>
              </a:rPr>
              <a:t>`Wireless Mouse` 被腰斬成 `Wireless` → 改到錯的商品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5193792"/>
            <a:ext cx="10853928" cy="7680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" y="5193792"/>
            <a:ext cx="64008" cy="768096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26694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5D5D"/>
                </a:solidFill>
                <a:latin typeface="Microsoft JhengHei"/>
              </a:rPr>
              <a:t>英文撇號炸掉 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559612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7777"/>
                </a:solidFill>
                <a:latin typeface="Microsoft JhengHei"/>
              </a:rPr>
              <a:t>坑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0712" y="526694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'Didn't catch that' ——英文化產生的撇號沒跳脫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55961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2" y="537667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D5D"/>
                </a:solidFill>
                <a:latin typeface="Microsoft JhengHei"/>
              </a:rPr>
              <a:t>整份 JS 停擺：畫面正常但 WebSocket 從沒建立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" y="6053328"/>
            <a:ext cx="10853928" cy="566928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" y="61447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Microsoft JhengHei"/>
              </a:rPr>
              <a:t>找法  </a:t>
            </a:r>
            <a:r>
              <a:rPr sz="1200" b="1">
                <a:solidFill>
                  <a:srgbClr val="FFFFFF"/>
                </a:solidFill>
                <a:latin typeface="Microsoft JhengHei"/>
              </a:rPr>
              <a:t>逐句追 log 看實際執行路徑，不要只看輸入輸出猜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——log 常見 clf 判對、模型也判對，卻被中文導向的守衛改掉。共歸納 19 類坑。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ENGLISH BUILD · 收斂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從 651 到 938/938：把「可靠」再證明一次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英文版建了獨立的 938 句守衛庫（不是翻譯中文守衛——英文有自己的邊界：錯字型態、俗稱、閒聊搗蛋）。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3736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8366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938/938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43230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英文守衛通過率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1286" y="173736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5878" y="188366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19 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878" y="243230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移植坑歸納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73736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652" y="188366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25 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652" y="243230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view 逐一看過畫面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8834" y="173736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3426" y="188366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3426" y="243230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已知未修破口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06324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收斂過程：每一次跳動都是一批結構性 bug 被找出來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3456432"/>
            <a:ext cx="2487168" cy="10241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5844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44444"/>
                </a:solidFill>
                <a:latin typeface="Arial"/>
              </a:rPr>
              <a:t>651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首跑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380390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8" y="3456432"/>
            <a:ext cx="2487168" cy="10241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35844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44444"/>
                </a:solidFill>
                <a:latin typeface="Arial"/>
              </a:rPr>
              <a:t>873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4078224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13 輪規則層英文化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80390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3456432"/>
            <a:ext cx="2487168" cy="10241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35844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44444"/>
                </a:solidFill>
                <a:latin typeface="Arial"/>
              </a:rPr>
              <a:t>891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078224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錯字長尾靠修復層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380390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456432"/>
            <a:ext cx="2487168" cy="102412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778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5844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8E76"/>
                </a:solidFill>
                <a:latin typeface="Arial"/>
              </a:rPr>
              <a:t>938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4078224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詞典把關收尾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4709160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482803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「救不了」要有證據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5138928"/>
            <a:ext cx="4846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兩次把「試過一種做法沒成功」寫成「這類問題無解」。最後一句錯字靠系統內建英文詞典區分「真詞 vs 錯字」修掉——訊號一直都在，只是沒接上。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4709160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482803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看畫面才算審完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5138928"/>
            <a:ext cx="4846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守衛全綠不等於畫面對。改用截圖逐一看 25 個 view，抓到 JSON 完全看不到的破口：卡片承諾「說 delete AL001」，照打卻回查無此商品。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6181344"/>
            <a:ext cx="10853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55555"/>
                </a:solidFill>
                <a:latin typeface="Microsoft JhengHei"/>
              </a:rPr>
              <a:t>中英雙版並存：RPi5 同時跑 8002（英文，展場主力）與 8001（中文備援），開機自啟、訪客點分頁切換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全離線語音輸入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訪客用「講的」查倉管，ASR 全程跑在樹莓派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打字對展場訪客不夠自然——加一層離線語音輸入，同一套倉管後端不動，語音只是新入口。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74519"/>
            <a:ext cx="10853928" cy="69494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993391"/>
            <a:ext cx="457200" cy="45720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751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929383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前端錄音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929383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Siri 式：點一下 → 講 → 靜音自動結束（瀏覽器 VAD 偵測）</a:t>
            </a:r>
          </a:p>
        </p:txBody>
      </p:sp>
      <p:sp>
        <p:nvSpPr>
          <p:cNvPr id="10" name="Chevron 9"/>
          <p:cNvSpPr/>
          <p:nvPr/>
        </p:nvSpPr>
        <p:spPr>
          <a:xfrm>
            <a:off x="5943600" y="2587751"/>
            <a:ext cx="329184" cy="128016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2734055"/>
            <a:ext cx="10853928" cy="69494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852927"/>
            <a:ext cx="457200" cy="457200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8346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78891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E76"/>
                </a:solidFill>
                <a:latin typeface="Microsoft JhengHei"/>
              </a:rPr>
              <a:t>whisper.cpp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788919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OpenAI whisper，RPi5 CPU 純離線辨識（中英同顆 small-q8_0，2.5s/句）</a:t>
            </a:r>
          </a:p>
        </p:txBody>
      </p:sp>
      <p:sp>
        <p:nvSpPr>
          <p:cNvPr id="16" name="Chevron 15"/>
          <p:cNvSpPr/>
          <p:nvPr/>
        </p:nvSpPr>
        <p:spPr>
          <a:xfrm>
            <a:off x="5943600" y="3447287"/>
            <a:ext cx="329184" cy="128016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593591"/>
            <a:ext cx="10853928" cy="69494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3712463"/>
            <a:ext cx="457200" cy="457200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69417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648455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2A45"/>
                </a:solidFill>
                <a:latin typeface="Microsoft JhengHei"/>
              </a:rPr>
              <a:t>OpenCC 轉繁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648455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簡體 → 繁體，順便轉台灣用語（僅中文版需要）</a:t>
            </a:r>
          </a:p>
        </p:txBody>
      </p:sp>
      <p:sp>
        <p:nvSpPr>
          <p:cNvPr id="22" name="Chevron 21"/>
          <p:cNvSpPr/>
          <p:nvPr/>
        </p:nvSpPr>
        <p:spPr>
          <a:xfrm>
            <a:off x="5943600" y="4306823"/>
            <a:ext cx="329184" cy="128016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" y="4453127"/>
            <a:ext cx="10853928" cy="69494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" y="4571999"/>
            <a:ext cx="457200" cy="457200"/>
          </a:xfrm>
          <a:prstGeom prst="ellips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5537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507991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同音修正層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507991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倉別 / 動詞 / 量詞 / 異體字——只掛 ASR 出口，不碰倉管核心</a:t>
            </a:r>
          </a:p>
        </p:txBody>
      </p:sp>
      <p:sp>
        <p:nvSpPr>
          <p:cNvPr id="28" name="Chevron 27"/>
          <p:cNvSpPr/>
          <p:nvPr/>
        </p:nvSpPr>
        <p:spPr>
          <a:xfrm>
            <a:off x="5943600" y="5166359"/>
            <a:ext cx="329184" cy="128016"/>
          </a:xfrm>
          <a:prstGeom prst="chevron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" y="5312663"/>
            <a:ext cx="10853928" cy="69494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" y="5431535"/>
            <a:ext cx="457200" cy="457200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41324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5367527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E76"/>
                </a:solidFill>
                <a:latin typeface="Microsoft JhengHei"/>
              </a:rPr>
              <a:t>倉管 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5367527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既有守衛庫 + 發音容錯層接手，回答與打字完全一致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選型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壓縮程度怎麼選：實測打敗直覺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61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選型鐵律：① 供應鏈來源可控（歐美模型）② RPi5 CPU 純離線跑 ③ 中英共用同一套 whisper.cpp runtime。同一顆 small 模型有三種壓縮程度可選，實測結果推翻了兩個直覺。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10853928" cy="4572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65376"/>
            <a:ext cx="1874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1865376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體積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7367" y="1865376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1848" y="1865376"/>
            <a:ext cx="16916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RPi5 延遲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1865376"/>
            <a:ext cx="1874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純模型辨識率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9448" y="1865376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本專案判定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240280"/>
            <a:ext cx="10853928" cy="502920"/>
          </a:xfrm>
          <a:prstGeom prst="rect">
            <a:avLst/>
          </a:prstGeom>
          <a:solidFill>
            <a:srgbClr val="E4F7F2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7685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whisper small + 量化 q8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276856"/>
            <a:ext cx="1143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44444"/>
                </a:solidFill>
                <a:latin typeface="Arial"/>
              </a:rPr>
              <a:t>252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7" y="2276856"/>
            <a:ext cx="1508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多語（中英同檔）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276856"/>
            <a:ext cx="169163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08E76"/>
                </a:solidFill>
                <a:latin typeface="Arial"/>
              </a:rPr>
              <a:t>2.5s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227685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真人 39% / 合成 87%（純聽寫）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276856"/>
            <a:ext cx="2148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08E76"/>
                </a:solidFill>
                <a:latin typeface="Microsoft JhengHei"/>
              </a:rPr>
              <a:t>★ 定案：準度夠又壓得下來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2743200"/>
            <a:ext cx="10853928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7977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2E"/>
                </a:solidFill>
                <a:latin typeface="Microsoft JhengHei"/>
              </a:rPr>
              <a:t>whisper small 未量化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2779776"/>
            <a:ext cx="1143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Arial"/>
              </a:rPr>
              <a:t>465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7" y="2779776"/>
            <a:ext cx="1508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多語（中英同檔）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2779776"/>
            <a:ext cx="169163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Arial"/>
              </a:rPr>
              <a:t>10 秒以上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277977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同上（量化不損準度）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779776"/>
            <a:ext cx="2148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</a:rPr>
              <a:t>準度夠但太慢 ⇒ 量化解決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3246120"/>
            <a:ext cx="1085392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8269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2E"/>
                </a:solidFill>
                <a:latin typeface="Microsoft JhengHei"/>
              </a:rPr>
              <a:t>whisper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8" y="3282696"/>
            <a:ext cx="1143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Arial"/>
              </a:rPr>
              <a:t>141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7" y="3282696"/>
            <a:ext cx="1508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多語（含中文）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1848" y="3282696"/>
            <a:ext cx="169163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Arial"/>
              </a:rPr>
              <a:t>2.2s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8" y="328269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真人明顯較差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3282696"/>
            <a:ext cx="2148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</a:rPr>
              <a:t>× 準度不足，升級 small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" y="3749040"/>
            <a:ext cx="10853928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8561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2E"/>
                </a:solidFill>
                <a:latin typeface="Microsoft JhengHei"/>
              </a:rPr>
              <a:t>whisper tiny.en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3785616"/>
            <a:ext cx="1143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Arial"/>
              </a:rPr>
              <a:t>74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7" y="3785616"/>
            <a:ext cx="1508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英文專用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848" y="3785616"/>
            <a:ext cx="169163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Arial"/>
              </a:rPr>
              <a:t>0.9s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8" y="3785616"/>
            <a:ext cx="18745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合成音好、真人差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3785616"/>
            <a:ext cx="2148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</a:rPr>
              <a:t>× 台灣腔真人辨識不堪用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" y="5468112"/>
            <a:ext cx="10853928" cy="1078992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" y="559612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選型邏輯  </a:t>
            </a:r>
            <a:r>
              <a:rPr sz="1300" b="1">
                <a:solidFill>
                  <a:srgbClr val="FFFFFF"/>
                </a:solidFill>
                <a:latin typeface="Microsoft JhengHei"/>
              </a:rPr>
              <a:t>small 夠準但太慢 → 量化壓縮 → q8_0</a:t>
            </a:r>
            <a:r>
              <a:rPr sz="1200" b="0">
                <a:solidFill>
                  <a:srgbClr val="BBBBBB"/>
                </a:solidFill>
                <a:latin typeface="Microsoft JhengHei"/>
              </a:rPr>
              <a:t>——小模型（tiny/base）準度不足；small 準度夠卻要 10 秒以上，展場站著等不了。量化把它壓到 252 MB、2.5 秒，準度幾乎不損。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" y="60624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為何純模型 39% 仍可用  </a:t>
            </a:r>
            <a:r>
              <a:rPr sz="1250" b="1">
                <a:solidFill>
                  <a:srgbClr val="FFFFFF"/>
                </a:solidFill>
                <a:latin typeface="Microsoft JhengHei"/>
              </a:rPr>
              <a:t>判準是「一字不差」才算對</a:t>
            </a:r>
            <a:r>
              <a:rPr sz="1200" b="0">
                <a:solidFill>
                  <a:srgbClr val="BBBBBB"/>
                </a:solidFill>
                <a:latin typeface="Microsoft JhengHei"/>
              </a:rPr>
              <a:t>——實際字元正確率 89%（每 10 字才錯 1 字），多為 earphones→earphone 這類小差異。容錯層接手後端到端 80%，那才是訪客體驗到的。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部署架構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從三個模型變成一個：換型順帶把架構砍薄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原方案是 VAD＋Encoder＋LLM 解碼器三顆模型（910 MB）。換 whisper 後：端點偵測交給瀏覽器、編碼解碼合成一顆模型檔。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28800"/>
            <a:ext cx="350215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048256"/>
            <a:ext cx="566928" cy="566928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299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066544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端點偵測移到前端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395728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77777"/>
                </a:solidFill>
                <a:latin typeface="Arial"/>
              </a:rPr>
              <a:t>RMS 音量偵測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1635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Arial"/>
              </a:rPr>
              <a:t>Web Audio API · 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63824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瀏覽器即時算音量：靜音 1.2s 自動送出、15s 硬上限；省掉一顆 VAD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830068"/>
            <a:ext cx="219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0215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2" y="2048256"/>
            <a:ext cx="566928" cy="566928"/>
          </a:xfrm>
          <a:prstGeom prst="ellipse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299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66544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編碼＋解碼合一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95728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77777"/>
                </a:solidFill>
                <a:latin typeface="Arial"/>
              </a:rPr>
              <a:t>252 MB · 中英共用一顆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1635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Arial"/>
              </a:rPr>
              <a:t>ggml-small-q8_0.bin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63824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whisper 端到端 encoder-decoder：聲學編碼與文字解碼同一檔；-ac 640 削掉短句用不到的空白運算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2830068"/>
            <a:ext cx="219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Arial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828800"/>
            <a:ext cx="350215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20" y="2048256"/>
            <a:ext cx="566928" cy="56692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0299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066544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C49A"/>
                </a:solidFill>
                <a:latin typeface="Microsoft JhengHei"/>
              </a:rPr>
              <a:t>同一套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395728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77777"/>
                </a:solidFill>
                <a:latin typeface="Arial"/>
              </a:rPr>
              <a:t>語言只是一個參數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81635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Arial"/>
              </a:rPr>
              <a:t>-l en ／ -l zh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163824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中英只差語言旗標、共用同一顆模型檔；多語權重輸出簡體，中文仍走 OpenCC 轉繁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379976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實際部署管線（POST /api/asr，全程本機、無網路）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前端錄音 + VAD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靜音 1.2s 自動停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6856" y="48920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42032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ffmpeg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轉 16k mono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48920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0248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524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8E76"/>
                </a:solidFill>
                <a:latin typeface="Microsoft JhengHei"/>
              </a:rPr>
              <a:t>whisper-cli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8E76"/>
                </a:solidFill>
                <a:latin typeface="Microsoft JhengHei"/>
              </a:rPr>
              <a:t>small-q8_0 · -ac 640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48920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OpenCC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簡→繁（僅中文）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8920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72984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6136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出口正規化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大小寫/錯字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48920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BBBBB"/>
                </a:solidFill>
                <a:latin typeface="Arial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74352" y="4764024"/>
            <a:ext cx="1627632" cy="7498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47504" y="4837176"/>
            <a:ext cx="1481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倉管 WS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44444"/>
                </a:solidFill>
                <a:latin typeface="Microsoft JhengHei"/>
              </a:rPr>
              <a:t>回答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" y="5742432"/>
            <a:ext cx="10853928" cy="8686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83387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Microsoft JhengHei"/>
              </a:rPr>
              <a:t>RPi5 部署  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910 MB 三顆 → 252 MB 一顆（中英共用）｜VAD 零模型｜英文 2.5s/句｜純 CPU、零 GPU、零雲端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61996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0A030"/>
                </a:solidFill>
                <a:latin typeface="Microsoft JhengHei"/>
              </a:rPr>
              <a:t>時間管控  </a:t>
            </a:r>
            <a:r>
              <a:rPr sz="1150" b="1">
                <a:solidFill>
                  <a:srgbClr val="FFFFFF"/>
                </a:solidFill>
                <a:latin typeface="Microsoft JhengHei"/>
              </a:rPr>
              <a:t>-ac 640 = 一次只吃 12.8 秒（預設 30 秒）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——問句 2-3 秒，其餘都是空白運算；削掉後速度快一倍，同時等於替語音輸入設了長度上限。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展場噪音實測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念一次真人聲，自動測三種環境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方法突破：真人念一次乾淨版並存錄音，用同一份錄音自動混入賣場人潮噪音重測——對比最公平。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965960"/>
            <a:ext cx="3483864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11226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C49A"/>
                </a:solidFill>
                <a:latin typeface="Arial"/>
              </a:rP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77063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乾淨（正常音量）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965960"/>
            <a:ext cx="3483864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11226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C49A"/>
                </a:solidFill>
                <a:latin typeface="Arial"/>
              </a:rPr>
              <a:t>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77063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一般人潮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1965960"/>
            <a:ext cx="3483864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11226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C49A"/>
                </a:solidFill>
                <a:latin typeface="Arial"/>
              </a:rP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77063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尖峰吵雜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520440"/>
            <a:ext cx="10853928" cy="7315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776472"/>
            <a:ext cx="219456" cy="219456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59359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噪音幾乎零影響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593592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一般展場 −1%、尖峰只 −5%；純被噪音壓垮的僅 5 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89120"/>
            <a:ext cx="10853928" cy="7315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645152"/>
            <a:ext cx="219456" cy="219456"/>
          </a:xfrm>
          <a:prstGeom prst="ellips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音量才是關鍵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4462272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小聲時摩擦音（ㄕ/ㄘ）糊掉→亂猜；正常音量直接解決大半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5257800"/>
            <a:ext cx="10853928" cy="7315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513832"/>
            <a:ext cx="219456" cy="21945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33095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2A45"/>
                </a:solidFill>
                <a:latin typeface="Microsoft JhengHei"/>
              </a:rPr>
              <a:t>失敗多為 ASR 極限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5330952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整詞聽錯，訪客看辨識文字重講即可，非系統 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6172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E76"/>
                </a:solidFill>
                <a:latin typeface="Microsoft JhengHei"/>
              </a:rPr>
              <a:t>結論：webcam + 270M + 正常音量＝展場夠用，不需升級模型或麥克風。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容錯設計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兩層容錯：拼音智慧比對 + 固定規則修正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270M 辨識不完美（滑鼠→華數/華族）。主角是「拼音容錯層」——把錯字轉拼音智慧比對；再配一層固定規則收尾。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965960"/>
            <a:ext cx="5806440" cy="3429000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176272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E76"/>
                </a:solidFill>
                <a:latin typeface="Microsoft JhengHei"/>
              </a:rPr>
              <a:t>① 拼音容錯層</a:t>
            </a:r>
            <a:r>
              <a:rPr sz="1200" b="1">
                <a:solidFill>
                  <a:srgbClr val="00C49A"/>
                </a:solidFill>
                <a:latin typeface="Microsoft JhengHei"/>
              </a:rPr>
              <a:t>  · 主角 · 智慧比對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0604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A2E"/>
                </a:solidFill>
                <a:latin typeface="Microsoft JhengHei"/>
              </a:rPr>
              <a:t>字形救不到 → 轉拼音、滑窗比對商品名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358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35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同音字形遠：滑鼠 vs 華數，字形 0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985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198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轉拼音一比即中：huashu ≈ huashu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039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039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音節還原 zu→zhu／su→shu，救捲舌混淆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87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滑窗掃句：核心名拼音是句拼音子串 → 命中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72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門檻 0.82 防誤配（衛生棉≠衛生紙）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9560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49A"/>
                </a:solidFill>
                <a:latin typeface="Microsoft JhengHe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56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字形優先、拼音救底 → 打字＋守衛零回歸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965960"/>
            <a:ext cx="4617720" cy="3429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2176272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A030"/>
                </a:solidFill>
                <a:latin typeface="Microsoft JhengHei"/>
              </a:rPr>
              <a:t>② 固定規則修正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260604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A2E"/>
                </a:solidFill>
                <a:latin typeface="Microsoft JhengHei"/>
              </a:rPr>
              <a:t>掛 ASR 出口，不碰倉管核心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0358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035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倉別：總/藏/昌倉 → 中/北倉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341985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34198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動詞：近→進、谷→補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38039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38039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量詞：臺→台（OpenCC 差異）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879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41879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異體字：溼→濕、賬→帳、周→週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4572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退貨中文數字豁免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49560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A030"/>
                </a:solidFill>
                <a:latin typeface="Microsoft JhengHe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4956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444"/>
                </a:solidFill>
                <a:latin typeface="Microsoft JhengHei"/>
              </a:rPr>
              <a:t>打字訪客零影響、守衛零風險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760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分工：拼音層救「沒見過的音近錯」（會智慧比對）；規則層收「反覆出現的固定錯」（查表最快最穩）。下一頁看拼音層怎麼一步步救。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拼音修正流程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一個錯字怎麼被救回：字形先試，拼音救底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核心：ASR 錯字多是「音同、字形零重疊」——字形比對必敗，轉成拼音一比即中。全程純字串運算，RPi5 零負擔。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47088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輸入 keyword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6432" y="1847088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Microsoft JhengHei"/>
              </a:rPr>
              <a:t>270M 抽出的商品詞（常髒／殘／錯）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23591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555748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619756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① 字形比對優先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61975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先走 LCS 字形比對，命中就用 → 不進拼音層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3182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328416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392424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0A030"/>
                </a:solidFill>
                <a:latin typeface="Microsoft JhengHei"/>
              </a:rPr>
              <a:t>② 三道排除閘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392424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含寫入動詞／倉別／數字 → 不救；&gt;6 字 → 不救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9044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4101084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165092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C49A"/>
                </a:solidFill>
                <a:latin typeface="Microsoft JhengHei"/>
              </a:rPr>
              <a:t>③ 轉拼音 + 音節還原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16509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lazy_pinyin，捲舌平舌還原（zu→zhu、su→shu）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6771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873752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4937760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C49A"/>
                </a:solidFill>
                <a:latin typeface="Microsoft JhengHei"/>
              </a:rPr>
              <a:t>④ 滑窗比對商品拼音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937760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核心名拼音 vs 句拼音，difflib 取最佳對齊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544982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BBBBB"/>
                </a:solidFill>
                <a:latin typeface="Arial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646420"/>
            <a:ext cx="6126480" cy="6035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710428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⑤ 門檻 0.82 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5710428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44444"/>
                </a:solidFill>
                <a:latin typeface="Microsoft JhengHei"/>
              </a:rPr>
              <a:t>≥0.82 救回；否則回空 → 交 clarify 反問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2" y="1783080"/>
            <a:ext cx="4407408" cy="47091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965960"/>
            <a:ext cx="3822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C49A"/>
                </a:solidFill>
                <a:latin typeface="Microsoft JhengHei"/>
              </a:rPr>
              <a:t>實例：「北倉的滑鼠有多少」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39572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ASR 聽成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239572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北倉的華數有多少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8986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抽 keyword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289864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BBBBB"/>
                </a:solidFill>
                <a:latin typeface="Microsoft JhengHei"/>
              </a:rPr>
              <a:t>華數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4015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① 字形比對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40156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BBBBB"/>
                </a:solidFill>
                <a:latin typeface="Microsoft JhengHei"/>
              </a:rPr>
              <a:t>華數 vs 滑鼠 → 0 重疊，失敗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90448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② 排除閘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90448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BBBBB"/>
                </a:solidFill>
                <a:latin typeface="Microsoft JhengHei"/>
              </a:rPr>
              <a:t>無寫入詞／無數字／2 字 → 放行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4074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③ 轉拼音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440740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華數 = huashu（su→shu 還原）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91032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④ 滑窗比對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491032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滑鼠 huashu ⊂ 句拼音 → 命中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4132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⑤ 門檻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541324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0.95 ≥ 0.82 → 救回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9161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BBBBB"/>
                </a:solidFill>
                <a:latin typeface="Microsoft JhengHei"/>
              </a:rPr>
              <a:t>結果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5916168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→ 無線滑鼠 ✓ 答對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救回實例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ASR 聽錯，容錯層照樣答對（真人聲實測）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61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以下全是 2026-07 真人聲實測（webcam）的原始紀錄：ASR 明明聽錯，經容錯層修正後結果正確。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10853928" cy="420624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47088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訪客原句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8536" y="1847088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ASR 聽成（錯）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63256" y="1847088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容錯層救回 → 答對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2203704"/>
            <a:ext cx="1085392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49424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北倉進五十個滑鼠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249424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北藏近五十個華族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6" y="2249424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藏→倉·近→進·華族→滑鼠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2601468"/>
            <a:ext cx="10853928" cy="397764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47188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幫我在北倉加五十個滑鼠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2647188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…加五十個花束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647188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花束→滑鼠（拼音同音）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" y="2999232"/>
            <a:ext cx="1085392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044952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藍牙耳機庫存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3044952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藍芽耳機庫存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3044952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藍芽→藍牙（OpenCC 用語）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" y="3396996"/>
            <a:ext cx="10853928" cy="397764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442716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中倉衛生紙還有嗎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6" y="3442716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中餐衛生紙還有嗎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442716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中餐→中倉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3794760"/>
            <a:ext cx="1085392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840480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運動壓縮臂套庫存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840480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運動壓縮筆套庫存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840480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筆套→臂套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" y="4192524"/>
            <a:ext cx="10853928" cy="397764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238244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精釀啤酒庫存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4238244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儘量啤酒庫存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3256" y="4238244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儘量→精釀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" y="4590288"/>
            <a:ext cx="1085392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636008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防蚊液庫存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8536" y="4636008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防蚊衣庫存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4636008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防蚊衣→防蚊液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" y="4988052"/>
            <a:ext cx="10853928" cy="397764"/>
          </a:xfrm>
          <a:prstGeom prst="rect">
            <a:avLst/>
          </a:prstGeom>
          <a:solidFill>
            <a:srgbClr val="F4F6F8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033772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衛生紙的帳對不上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8536" y="5033772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衛生紙的賬對不上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63256" y="5033772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賬→帳（異體字）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" y="5385816"/>
            <a:ext cx="1085392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5431536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南倉出十五個瑜珈墊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5431536"/>
            <a:ext cx="3072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南倉出十五個瑜伽墊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3256" y="5431536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瑜伽→瑜珈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" y="5943600"/>
            <a:ext cx="10853928" cy="65836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6062472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E76"/>
                </a:solidFill>
                <a:latin typeface="Microsoft JhengHei"/>
              </a:rPr>
              <a:t>為何拼音救得到：  </a:t>
            </a:r>
            <a:r>
              <a:rPr sz="1200" b="0">
                <a:solidFill>
                  <a:srgbClr val="444444"/>
                </a:solidFill>
                <a:latin typeface="Arial"/>
              </a:rPr>
              <a:t>華數 huashu = 滑鼠 huashu（完全同音）｜藍雅爾基 lanyaerji = 藍牙耳機 lanyaerji｜到齊 daoqi = 到期 daoqi</a:t>
            </a:r>
            <a:r>
              <a:rPr sz="1200" b="0">
                <a:solidFill>
                  <a:srgbClr val="444444"/>
                </a:solidFill>
                <a:latin typeface="Microsoft JhengHei"/>
              </a:rPr>
              <a:t>  → 字形零重疊、拼音一比即中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POC · 極限與對策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救不回的也照實講：270M 的天花板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61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誠實區分：同音/音近能救；但 ASR 把整詞聽成毫不相干的詞（字形+發音都差），容錯層無能為力。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6537960" cy="3794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47672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85D5D"/>
                </a:solidFill>
                <a:latin typeface="Microsoft JhengHei"/>
              </a:rPr>
              <a:t>整詞崩壞 → 救不回（FAIL）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77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7777"/>
                </a:solidFill>
                <a:latin typeface="Microsoft JhengHei"/>
              </a:rPr>
              <a:t>原句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377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7777"/>
                </a:solidFill>
                <a:latin typeface="Microsoft JhengHei"/>
              </a:rPr>
              <a:t>ASR 聽成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700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瑜珈墊有貨嗎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26700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女藥店有貨嗎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043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露營帳篷有貨嗎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1043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女人占房有好嗎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387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北倉的滑鼠有多少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538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北倉的瓦數有多少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9730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有缺的列出來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39730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有趣的列出來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4074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北倉進三十瓶防蚊液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44074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…近三十品防瘟疫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8417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南倉收了三十個啤酒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48417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…收了三十個皮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2760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2E"/>
                </a:solidFill>
                <a:latin typeface="Microsoft JhengHei"/>
              </a:rPr>
              <a:t>啞鈴庫存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52760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5D5D"/>
                </a:solidFill>
                <a:latin typeface="Microsoft JhengHei"/>
              </a:rPr>
              <a:t>→ 10 庫存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783080"/>
            <a:ext cx="4023360" cy="37947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19476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C49A"/>
                </a:solidFill>
                <a:latin typeface="Microsoft JhengHei"/>
              </a:rPr>
              <a:t>對策：人在迴路即容錯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7" y="2395728"/>
            <a:ext cx="365760" cy="36576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7" y="23820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35915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前端即時顯示辨識文字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63347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BBBBB"/>
                </a:solidFill>
                <a:latin typeface="Microsoft JhengHei"/>
              </a:rPr>
              <a:t>訪客看到「女藥店」明顯不對，自然會重講一次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7" y="3172968"/>
            <a:ext cx="365760" cy="36576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7" y="31592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1363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不硬編同音規則硬猜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341071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BBBBB"/>
                </a:solidFill>
                <a:latin typeface="Microsoft JhengHei"/>
              </a:rPr>
              <a:t>亂編規則救個案，會誤傷別句、風險大於效益</a:t>
            </a:r>
          </a:p>
        </p:txBody>
      </p:sp>
      <p:sp>
        <p:nvSpPr>
          <p:cNvPr id="33" name="Oval 32"/>
          <p:cNvSpPr/>
          <p:nvPr/>
        </p:nvSpPr>
        <p:spPr>
          <a:xfrm>
            <a:off x="7790687" y="3950208"/>
            <a:ext cx="365760" cy="36576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7" y="39364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91363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音量才是主因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18795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BBBBB"/>
                </a:solidFill>
                <a:latin typeface="Microsoft JhengHei"/>
              </a:rPr>
              <a:t>小聲時摩擦音 ㄕ/ㄘ 糊掉；展場大聲對麥＝多半消失</a:t>
            </a:r>
          </a:p>
        </p:txBody>
      </p:sp>
      <p:sp>
        <p:nvSpPr>
          <p:cNvPr id="37" name="Oval 36"/>
          <p:cNvSpPr/>
          <p:nvPr/>
        </p:nvSpPr>
        <p:spPr>
          <a:xfrm>
            <a:off x="7790687" y="4727448"/>
            <a:ext cx="365760" cy="365760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0687" y="47137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469087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展後回饋閉環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96519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BBBBB"/>
                </a:solidFill>
                <a:latin typeface="Microsoft JhengHei"/>
              </a:rPr>
              <a:t>展場問答入 journal，事後撈真實錯句補規則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5806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分寸：容錯層只救「聽得出是同一個音」的錯——救得到的自動救、救不到的交給人重講，絕不亂猜幻覺出錯商品。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TESTING · 換輸入源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測了 11 輪還有破口？因為造句的人一直是同一個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守衛全綠、劇情批 5 輪、渲染批 5 輪——但那些句子都是同一個作者打字造的，盲點會系統性重複。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55648"/>
            <a:ext cx="5321808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6537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8E76"/>
                </a:solidFill>
                <a:latin typeface="Microsoft JhengHei"/>
              </a:rPr>
              <a:t>① TTS 唸 → whisper 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76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77777"/>
                </a:solidFill>
                <a:latin typeface="Microsoft JhengHei"/>
              </a:rPr>
              <a:t>100 句 × 3 噪音層 = 300 次辨識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46888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產物型態跟打字完全不同：撇號縮寫、黏字、聽錯詞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55648"/>
            <a:ext cx="5321808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6537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② 刻意寫「我不會寫的句型」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76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77777"/>
                </a:solidFill>
                <a:latin typeface="Microsoft JhengHei"/>
              </a:rPr>
              <a:t>47 句探針（禮貌用語 / 口語省略 / 填充詞）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6888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換作者視角：展場訪客會客氣地問，不是打命令式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272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TTS 基準批結果：噪音幾乎不影響（真實賣場環境音混入）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474720"/>
            <a:ext cx="3456432" cy="84124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397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6027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8E76"/>
                </a:solidFill>
                <a:latin typeface="Arial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6393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沒有背景音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474720"/>
            <a:ext cx="3456432" cy="84124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397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6027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8E76"/>
                </a:solidFill>
                <a:latin typeface="Arial"/>
              </a:rPr>
              <a:t>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6393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一般人潮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3474720"/>
            <a:ext cx="3456432" cy="841248"/>
          </a:xfrm>
          <a:prstGeom prst="roundRect">
            <a:avLst>
              <a:gd name="adj" fmla="val 8000"/>
            </a:avLst>
          </a:prstGeom>
          <a:solidFill>
            <a:srgbClr val="E4F7F2"/>
          </a:solidFill>
          <a:ln w="1397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6027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8E76"/>
                </a:solidFill>
                <a:latin typeface="Arial"/>
              </a:rPr>
              <a:t>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36393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44444"/>
                </a:solidFill>
                <a:latin typeface="Microsoft JhengHei"/>
              </a:rPr>
              <a:t>尖峰吵雜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4988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抓到的破口——大多數打字訪客也會遇到，只是先前造句時沒想到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4846320"/>
            <a:ext cx="54864" cy="347472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6460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85D5D"/>
                </a:solidFill>
                <a:latin typeface="Microsoft JhengHei"/>
              </a:rPr>
              <a:t>撇號縮寫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86460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what's in central warehouse…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48646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ASR 聽對、LLM 判對，卻被防幻覺閘門當「陌生商品」清掉 → 全店概覽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5248656"/>
            <a:ext cx="54864" cy="347472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6694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85D5D"/>
                </a:solidFill>
                <a:latin typeface="Microsoft JhengHei"/>
              </a:rPr>
              <a:t>禮貌用語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526694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could you tell me the earphone stock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9592" y="526694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回「查無 could 這個商品」——訪客客氣問反而失敗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" y="5650992"/>
            <a:ext cx="54864" cy="347472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6928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0A030"/>
                </a:solidFill>
                <a:latin typeface="Microsoft JhengHei"/>
              </a:rPr>
              <a:t>英文追問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56692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what about north / how about central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592" y="566928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最自然的追問講法，carry-over 詞表偏偏漏了 about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6053328"/>
            <a:ext cx="54864" cy="347472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6071616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0A030"/>
                </a:solidFill>
                <a:latin typeface="Microsoft JhengHei"/>
              </a:rPr>
              <a:t>問展示本身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607161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what's this demo about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9592" y="6071616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回熱銷榜——訪客第一句就答非所問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" y="6473952"/>
            <a:ext cx="10853928" cy="310896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64922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0C49A"/>
                </a:solidFill>
                <a:latin typeface="Microsoft JhengHei"/>
              </a:rPr>
              <a:t>結論  </a:t>
            </a:r>
            <a:r>
              <a:rPr sz="1100" b="0">
                <a:solidFill>
                  <a:srgbClr val="BBBBBB"/>
                </a:solidFill>
                <a:latin typeface="Microsoft JhengHei"/>
              </a:rPr>
              <a:t>不是「測不夠多輪」，是「輸入源不夠多樣」——換一個產生源，立刻抓到 11 輪都沒碰到的類型。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· 真人實測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合成音 92%，真人首測 55%——合成音會嚴重高估（下頁為補滿 100 句的現況）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先前所有英文語音數據都來自 TTS。這次請真人（非母語者）先錄 38 句抽樣（後補滿 100 句，見下頁），用展場實際會部署的模型與麥克風測完整語音鏈。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83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TTS 合成音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77777"/>
                </a:solidFill>
                <a:latin typeface="Arial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6148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US 腔 100 句 · 咬字標準、無語速變化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783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90195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真人（非母語）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5D5D"/>
                </a:solidFill>
                <a:latin typeface="Arial"/>
              </a:rPr>
              <a:t>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6148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台灣腔首測 38 句抽樣（後補滿100句→下頁） · 同麥克風同模型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6" y="1783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6" y="190195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＋ ASR 容錯層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6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8E76"/>
                </a:solidFill>
                <a:latin typeface="Arial"/>
              </a:rPr>
              <a:t>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6" y="276148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同一批音檔，沒重錄、只加規則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3101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為什麼落差這麼大——這正是「合成音會嚴重高估」的又一次驗證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657600"/>
            <a:ext cx="54864" cy="402336"/>
          </a:xfrm>
          <a:prstGeom prst="rect">
            <a:avLst/>
          </a:prstGeom>
          <a:solidFill>
            <a:srgbClr val="008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67588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詞尾被吞掉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3675888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shipped → shed｜send → sen｜received → receive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367588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非母語者通病，母語者也有只是頻率低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4133088"/>
            <a:ext cx="54864" cy="402336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15137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A030"/>
                </a:solidFill>
                <a:latin typeface="Microsoft JhengHei"/>
              </a:rPr>
              <a:t>連音黏成一詞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415137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sun hat → some heat｜sun hats → some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415137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母語者講快時更容易發生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4608576"/>
            <a:ext cx="54864" cy="402336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62686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5D5D"/>
                </a:solidFill>
                <a:latin typeface="Microsoft JhengHei"/>
              </a:rPr>
              <a:t>整詞被替換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2072" y="4626864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trash bags → trespass life｜mop → monk's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4626864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無可用訊號可修——硬修會誤傷正常查詢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" y="5230368"/>
            <a:ext cx="10853928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5358384"/>
            <a:ext cx="10149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容錯層買到什麼  </a:t>
            </a:r>
            <a:r>
              <a:rPr sz="1300" b="1">
                <a:solidFill>
                  <a:srgbClr val="FFFFFF"/>
                </a:solidFill>
                <a:latin typeface="Microsoft JhengHei"/>
              </a:rPr>
              <a:t>55% → 79%（+24 個百分點），完全沒有重錄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——只在 ASR 出口加三類規則：動詞詞尾、商品名固定錯法、倉別。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" y="5797296"/>
            <a:ext cx="10149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誠實揭露  </a:t>
            </a:r>
            <a:r>
              <a:rPr sz="1200" b="1">
                <a:solidFill>
                  <a:srgbClr val="FFFFFF"/>
                </a:solidFill>
                <a:latin typeface="Microsoft JhengHei"/>
              </a:rPr>
              <a:t>79% 是「重錄挑最好那次」的結果，一次命中率更低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——展場只有一次機會。母語者預估 75-85%。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" y="6236208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設計取捨  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答不出來時誠實反問、不亂猜——錯的時候不會給出錯誤數字。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VOICE · 真人 100 句實測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真人錄 100 句，混入賣場人潮音再測一次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070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用真人錄的 100 句，分別在安靜、一般人潮、尖峰吵雜三種背景音下測試——同一批錄音，只是把背景音混進去，沒有重錄。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755648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安靜環境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8E76"/>
                </a:solidFill>
                <a:latin typeface="Arial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3405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沒有背景音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755648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874519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一般人潮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1671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0C49A"/>
                </a:solidFill>
                <a:latin typeface="Arial"/>
              </a:rPr>
              <a:t>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3405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賣場人聲、腳步聲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6" y="1755648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6" y="1874519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2E"/>
                </a:solidFill>
                <a:latin typeface="Microsoft JhengHei"/>
              </a:rPr>
              <a:t>尖峰吵雜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6" y="21671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77777"/>
                </a:solidFill>
                <a:latin typeface="Arial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6" y="273405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</a:rPr>
              <a:t>人潮加倍的最壞情況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有背景音不但沒變差，還略好一點——展場的環境音在容忍範圍內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3675887"/>
            <a:ext cx="10789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71246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模型聽對的只有四成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712463"/>
            <a:ext cx="6949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但那是「一個字都不能錯」的算法；實際每 10 個字才錯 1 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01667"/>
            <a:ext cx="10789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423824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容錯層把它接起來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4238243"/>
            <a:ext cx="6949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自動修正聽錯的字（藍芽→藍牙、瑜伽店→瑜珈墊），答對率拉到八成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4727447"/>
            <a:ext cx="10789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76402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E76"/>
                </a:solidFill>
                <a:latin typeface="Microsoft JhengHei"/>
              </a:rPr>
              <a:t>聽不懂時不硬猜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764023"/>
            <a:ext cx="6949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救不回的句子會反問「請再說一次」，而不是自信地答錯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5253227"/>
            <a:ext cx="10789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528980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55555"/>
                </a:solidFill>
                <a:latin typeface="Microsoft JhengHei"/>
              </a:rPr>
              <a:t>這批數字怎麼來的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289803"/>
            <a:ext cx="6949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真人錄音 100 句 × 三種背景音，全部重跑一次，不做任何人工放寬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6382512"/>
            <a:ext cx="10789920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6419088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多輪對話  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代稱追問、確認落地在同一條連線下實測 100%——展場訪客走的正是這條路。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QUALITY · 換角度測試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同一批錄音當輸入源，換 9 個角度找破口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070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守衛全綠不代表沒問題——換一個角度就抓到一批，補進守衛庫才算收口。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700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測試角度（依抓到破口數排序）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01168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9397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真實 ASR 錯法 / 拼字變體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752" y="209397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5D5D"/>
                </a:solidFill>
                <a:latin typeface="Arial"/>
              </a:rPr>
              <a:t>10 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56032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64261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寫入資料正確性 · 惡意輸入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64261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5D5D"/>
                </a:solidFill>
                <a:latin typeface="Arial"/>
              </a:rPr>
              <a:t>1 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10896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9125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跨查詢介面一致性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19125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5D5D"/>
                </a:solidFill>
                <a:latin typeface="Arial"/>
              </a:rPr>
              <a:t>1 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65760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73989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UI 提示句實際照打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73989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5D5D"/>
                </a:solidFill>
                <a:latin typeface="Arial"/>
              </a:rPr>
              <a:t>1 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20624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28853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前端互動（真的用滑鼠點）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428853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Arial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75488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83717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1A2E"/>
                </a:solidFill>
                <a:latin typeface="Microsoft JhengHei"/>
              </a:rPr>
              <a:t>狀態污染（訪客不照劇本走）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483717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35838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08E76"/>
                </a:solidFill>
                <a:latin typeface="Microsoft JhengHei"/>
              </a:rPr>
              <a:t>最後兩輪零破口 → 收斂訊號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1700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最嚴重的三個（都會影響資料正確性）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2011680"/>
            <a:ext cx="5212080" cy="10607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212140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5D5D"/>
                </a:solidFill>
                <a:latin typeface="Microsoft JhengHei"/>
              </a:rPr>
              <a:t>小數數量被抽成錯值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43230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「進 1.5 個滑鼠」開出 +5 的確認卡，整數部分完全丟失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163824"/>
            <a:ext cx="5212080" cy="10607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2735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5D5D"/>
                </a:solidFill>
                <a:latin typeface="Microsoft JhengHei"/>
              </a:rPr>
              <a:t>一句兩商品只記第一筆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5844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第二個商品默默消失、卡片毫無提示——訪客以為兩筆都記了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4315968"/>
            <a:ext cx="5212080" cy="106070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442569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5D5D"/>
                </a:solidFill>
                <a:latin typeface="Microsoft JhengHei"/>
              </a:rPr>
              <a:t>寫入後查不到那筆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473659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</a:rPr>
              <a:t>庫存有變但進出紀錄查不到 → 訪客以為沒成功、可能重複進貨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5486400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8E76"/>
                </a:solidFill>
                <a:latin typeface="Microsoft JhengHei"/>
              </a:rPr>
              <a:t>共同模式：中文版有保護、英文版判準沒英文化——移植時要優先掃「數值保護」類的機制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6382512"/>
            <a:ext cx="10789920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" y="6419088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C49A"/>
                </a:solidFill>
                <a:latin typeface="Microsoft JhengHei"/>
              </a:rPr>
              <a:t>為什麼重要  </a:t>
            </a:r>
            <a:r>
              <a:rPr sz="1150" b="0">
                <a:solidFill>
                  <a:srgbClr val="BBBBBB"/>
                </a:solidFill>
                <a:latin typeface="Microsoft JhengHei"/>
              </a:rPr>
              <a:t>路由錯訪客看得出來，數字錯不會——所以數值正確性的破口最該優先修。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REAL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不是實驗室數字：樹莓派上真的扛得住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69164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83794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33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3865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連續運行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286" y="169164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5878" y="183794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1600+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5878" y="23865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次推論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69164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2" y="183794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44°C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9652" y="23865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溫度穩定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8834" y="1691640"/>
            <a:ext cx="2562606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3426" y="1837944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C49A"/>
                </a:solidFill>
                <a:latin typeface="Arial"/>
              </a:rPr>
              <a:t>20–30 t/s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3426" y="23865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速度零衰減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108960"/>
            <a:ext cx="5257800" cy="2834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37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8E76"/>
                </a:solidFill>
                <a:latin typeface="Microsoft JhengHei"/>
              </a:rPr>
              <a:t>雙平台驗收原則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4048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>本機（Windows）快速迭代，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>樹莓派（RPi5 CPU）最終驗收。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>單向規則：樹莓派過 = 過。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>首次上機就抓到本機測不出的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Microsoft JhengHei"/>
              </a:rPr>
              <a:t>平台精度差異句。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5257800" cy="28346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C49A"/>
                </a:solidFill>
                <a:latin typeface="Microsoft JhengHei"/>
              </a:rPr>
              <a:t>展場穩定性設計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840480"/>
            <a:ext cx="347472" cy="347472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267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85876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離線手機熱點運行，資料不出場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352544"/>
            <a:ext cx="347472" cy="347472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3388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370832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Wi-Fi 掉線自癒 watchdog（10 秒自檢）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864608"/>
            <a:ext cx="347472" cy="347472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8508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882896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一鍵重置回乾淨快照，玩壞也回得來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5376672"/>
            <a:ext cx="347472" cy="347472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3629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A1A2E"/>
                </a:solidFill>
                <a:latin typeface="Microsoft JhengHei"/>
              </a:rPr>
              <a:t>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539496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寫入操作二次確認，防誤觸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ROADMAP · 硬體路線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軟體已就緒，就等算力放大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555"/>
                </a:solidFill>
                <a:latin typeface="Microsoft JhengHei"/>
              </a:rPr>
              <a:t>同一套軟體架構，換上更強的算力就能跑更大的模型——這正是晶片團隊的下一步。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92024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8E76"/>
                </a:solidFill>
                <a:latin typeface="Microsoft JhengHei"/>
              </a:rPr>
              <a:t>現在 · 已實測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603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2E"/>
                </a:solidFill>
                <a:latin typeface="Microsoft JhengHei"/>
              </a:rPr>
              <a:t>RPi5 CPU（純軟體）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3200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FunctionGemma 270M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307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37307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20–30 tokens/s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6110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品質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426110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六套回歸雙平台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914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Microsoft JhengHei"/>
              </a:rPr>
              <a:t>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479145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一台樹莓派，無 GPU / 無雲端</a:t>
            </a:r>
          </a:p>
        </p:txBody>
      </p:sp>
      <p:sp>
        <p:nvSpPr>
          <p:cNvPr id="16" name="Chevron 15"/>
          <p:cNvSpPr/>
          <p:nvPr/>
        </p:nvSpPr>
        <p:spPr>
          <a:xfrm>
            <a:off x="5897880" y="3429000"/>
            <a:ext cx="566928" cy="457200"/>
          </a:xfrm>
          <a:prstGeom prst="chevron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1920240"/>
            <a:ext cx="4892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1488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C49A"/>
                </a:solidFill>
                <a:latin typeface="Microsoft JhengHei"/>
              </a:rPr>
              <a:t>下一階段 · Roadmap 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603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2E"/>
                </a:solidFill>
                <a:latin typeface="Microsoft JhengHei"/>
              </a:rPr>
              <a:t>RPi5 + 自研晶片加速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004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200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跳階到 3B / 7B 更大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307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7307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從「查詢路由」→ 真正的推理對話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6110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架構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2611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軟體不動，換算力即可放大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914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A030"/>
                </a:solidFill>
                <a:latin typeface="Microsoft JhengHei"/>
              </a:rPr>
              <a:t>狀態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7914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4444"/>
                </a:solidFill>
                <a:latin typeface="Microsoft JhengHei"/>
              </a:rPr>
              <a:t>晶片開發中，應用已備妥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關鍵訊息：連純 CPU 都已跑出生產級品質——軟體、測試、落地全部就緒，就等自研晶片把天花板拉高。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108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49A"/>
                </a:solidFill>
                <a:latin typeface="Arial"/>
              </a:rPr>
              <a:t>DUAL UNIT · 交付準備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2E"/>
                </a:solidFill>
                <a:latin typeface="Microsoft JhengHei"/>
              </a:rPr>
              <a:t>第二台 RPI5 重建完成：與主機同級認證、可交客戶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80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客戶交機版與展場主機完全同構——同一份程式碼（md5 對版）、同一套守衛認證、同一條還原手冊。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1051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95681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1149+938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6151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全量守衛 中/英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1286" y="181051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5878" y="195681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26/26 ×6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878" y="26151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並發串線三輪零串線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81051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652" y="195681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65.9°C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652" y="26151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壓測峰值 · 全程零降頻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8834" y="1810512"/>
            <a:ext cx="2562606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3426" y="1956816"/>
            <a:ext cx="22334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C49A"/>
                </a:solidFill>
                <a:latin typeface="Arial"/>
              </a:rPr>
              <a:t>414/414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3426" y="2615184"/>
            <a:ext cx="223342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555"/>
                </a:solidFill>
                <a:latin typeface="Microsoft JhengHei"/>
              </a:rPr>
              <a:t>交機快篩驗收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" y="3319272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3055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27355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開機即就緒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27355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開機自動歸零回乾淨基準（uptime 閘門、離線免時鐘）→ 服務自啟 → kiosk 雙語分頁自開 → 模擬自動起跑——插電就是展示狀態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" y="4050792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370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00507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手機動線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400507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切熱點 → 掃 QR → 手機直連查詢/語音——DHCP、憑證、手機版面全鏈打通（iPhone 實測）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" y="4782312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7685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73659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重建可複製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473659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重建缺口 9 類全數記錄成手冊 §15「一次還原到底」檢查表——下一台照抄指令＋9 項驗收，不再踩雷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" y="5513832"/>
            <a:ext cx="310896" cy="310896"/>
          </a:xfrm>
          <a:prstGeom prst="ellipse">
            <a:avLst/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5001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4681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2A45"/>
                </a:solidFill>
                <a:latin typeface="Microsoft JhengHei"/>
              </a:rPr>
              <a:t>遠端救援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546811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44444"/>
                </a:solidFill>
                <a:latin typeface="Microsoft JhengHei"/>
              </a:rPr>
              <a:t>雙機 ZeroTier 就位（10.35.219.22 / .47）——展場斷網用手機熱點即可遠端搶修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3093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E76"/>
                </a:solidFill>
                <a:latin typeface="Microsoft JhengHei"/>
              </a:rPr>
              <a:t>關鍵訊息：不是「複製一台機器」，是「複製一整套可驗收的交付流程」——手冊在版控裡，第三台起照走。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C49A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一句話查倉管，跑在樹莓派，品質可證明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755648"/>
            <a:ext cx="10853928" cy="722376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20240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865376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86537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FFFFF"/>
                </a:solidFill>
                <a:latin typeface="Microsoft JhengHei"/>
              </a:rPr>
              <a:t>自然語言問倉管，秒級回答；手機掃碼、離線可用、硬體成本極低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606040"/>
            <a:ext cx="10853928" cy="722376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770632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5234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715768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技術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71576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FFFFF"/>
                </a:solidFill>
                <a:latin typeface="Microsoft JhengHei"/>
              </a:rPr>
              <a:t>270M 小模型當路由器 + 規則層當決策者，業界邊緣 Agent 的正解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456432"/>
            <a:ext cx="10853928" cy="722376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621024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6027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356616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品質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566160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FFFFF"/>
                </a:solidFill>
                <a:latin typeface="Microsoft JhengHei"/>
              </a:rPr>
              <a:t>中文 1149 句雙平台 100%、英文 938 句 100%；「可靠」是數字不是祈禱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306824"/>
            <a:ext cx="10853928" cy="722376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71416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4531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416552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語音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441655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FFFFF"/>
                </a:solidFill>
                <a:latin typeface="Microsoft JhengHei"/>
              </a:rPr>
              <a:t>全離線 whisper；中英統一 small-q8_0（2.5s/句）、同一套 runtime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57216"/>
            <a:ext cx="10853928" cy="722376"/>
          </a:xfrm>
          <a:prstGeom prst="roundRect">
            <a:avLst>
              <a:gd name="adj" fmla="val 8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21808"/>
            <a:ext cx="475488" cy="475488"/>
          </a:xfrm>
          <a:prstGeom prst="ellipse">
            <a:avLst/>
          </a:prstGeom>
          <a:solidFill>
            <a:srgbClr val="00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3035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A1A2E"/>
                </a:solidFill>
                <a:latin typeface="Microsoft JhengHei"/>
              </a:rPr>
              <a:t>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5266944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C49A"/>
                </a:solidFill>
                <a:latin typeface="Microsoft JhengHei"/>
              </a:rPr>
              <a:t>雙語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5266944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FFFFF"/>
                </a:solidFill>
                <a:latin typeface="Microsoft JhengHei"/>
              </a:rPr>
              <a:t>中英雙版同機並存，訪客點分頁切換；移植 19 類坑已歸納成方法論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BBBBB"/>
                </a:solidFill>
                <a:latin typeface="Microsoft JhengHei"/>
              </a:rPr>
              <a:t>下一步：第二台交機（全量認證已過）、展前真人語音多句實測、SEMICON 9/2–9/4 展出——開機自動歸零 / 動態模擬 / 雙語 / 手機動線全數就緒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BBBBB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