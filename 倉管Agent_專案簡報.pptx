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A1A2E"/>
                </a:solidFill>
                <a:latin typeface="Microsoft JhengHei"/>
              </a:rPr>
              <a:t>守衛庫句數成長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守衛庫句數</c:v>
                </c:pt>
              </c:strCache>
            </c:strRef>
          </c:tx>
          <c:spPr>
            <a:solidFill>
              <a:srgbClr val="00C49A"/>
            </a:solidFill>
          </c:spPr>
          <c:cat>
            <c:strRef>
              <c:f>Sheet1!$A$2:$A$6</c:f>
              <c:strCache>
                <c:ptCount val="5"/>
                <c:pt idx="0">
                  <c:v>初期</c:v>
                </c:pt>
                <c:pt idx="1">
                  <c:v>conv100
收斂</c:v>
                </c:pt>
                <c:pt idx="2">
                  <c:v>第二戰役
短句認證</c:v>
                </c:pt>
                <c:pt idx="3">
                  <c:v>多輪
全枚舉</c:v>
                </c:pt>
                <c:pt idx="4">
                  <c:v>語音 POC
真人聲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138</c:v>
                </c:pt>
                <c:pt idx="1">
                  <c:v>352</c:v>
                </c:pt>
                <c:pt idx="2">
                  <c:v>855</c:v>
                </c:pt>
                <c:pt idx="3">
                  <c:v>978</c:v>
                </c:pt>
                <c:pt idx="4">
                  <c:v>1122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封面。定位：這是晶片團隊的軟體成果——一個能展示邊緣 AI 落地的真實應用。一句話說清楚產品：自然語言問倉管、一秒回答、跑在便宜的樹莓派上。三個數字：270M 是模型只有 2.7 億參數（業界主流 3B-8B 的零頭）、100+ 輪是品質收斂的迭代次數、100% 是回歸測試通過率。底線一句話點出硬體路線圖：現在純 CPU、下一步接自研晶片加速。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痛點對照。左邊是傳統倉管系統的四個痛：要學、層級深、現場難用、客製貴。右邊是本專案的解法：用講的、一秒答、手機掃碼、樹莓派就能跑。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七大查詢工具（唯讀）加一組 Agent 進階工具。前七個是訪客最常問的；第八格 Agent 進階包含根因分析（帳對不上時自動查原因）、自動補貨、定時排程。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四組真實對話。第三個示範「寫入類」操作有 HITL 確認卡——不會打字就直接改庫存，一定要按按鈕，避免誤操作。第四個是 Agent 根因分析：不只查數字，會推理為什麼對不上。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★Agent 定位頁。核心論點：這不是查詢工具，是會自己做事的 Agent。業界對 AI Agent 的標準定義＝感知→推理→行動三個能力，本系統三層都真的實作、背景在跑。感知：警示每小時掃、到期預警主動提醒。推理：RCA 三步根因分析（不只查現況，還找原因給建議）、自動補貨算量。行動：排程每分鐘檢查自動執行、一句話改庫存。分寸：HITL 確認卡不是缺點是優點——Agent 提案、人拍板，符合企業對 AI 落地的安全要求。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招牌能力頁。這是軟體最難、最值得秀的地方：小模型還能扛住這些亂打。六類真實展場輸入——錯字、講一半、注音殘字、中英夾雜、語序顛倒、俗稱別名。全部抓對商品。這些例子都是實測語料裡的真句子，不是虛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OOV 容錯的技術原理：四層 fallback。①雜詞剝除②精確/錯字修復（同音錯字表+注音還原）③模糊比對 fuzzy（剝規格、雙向滑窗、字元重疊，容忍變體詞）④抓不到就反問（列疑似商品請選，絕不亂猜幻覺）。核心哲學：寧可反問，不可答錯。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六層架構，由上而下。核心洞見：270M 小模型輸出不穩定是先天限制，所以不讓它做決策，只做意圖分類與抽參數；真正的業務邏輯與精確計算放在Server 端的規則層（C0-C18）。這也是業界邊緣 Agent 的正解——小模型當路由器，不當決策者。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FastText 是 Facebook 開源的輕量文字分類技術：詞向量平均＋線性分類器，沒有生成、沒有推理，所以毫秒級、確定性（同句同答案）。重點澄清：FastText 出廠不帶任何分類類別——官方只有語言辨識模型和詞向量，意圖分類一定要自備語料從零訓練；我們的 14 類直接對應倉管工具名，訓練語料跟 LLM 微調同源（5,849 筆），所以 clf 和 LLM 判斷口徑一致。分工哲學：clf 管「做什麼」（路由），270M 管「參數是什麼」（抽取）——路由要穩定用分類器，抽取要泛化用 LLM，各用其長。高信心（conf≥0.8）且不需參數的功能直接跳過 LLM，是「一秒回答」的主要來源。彩蛋（可講）：這顆分類器曾因 fasttext×numpy2 不相容在展示機上靜默死亡三週，期間 100+ 輪、六套回歸照樣雙平台 100%——LLM+校正層獨自扛住，正是縱深防禦的實證；修復後展示機過半問題毫秒級回答、路由徽章首次亮起。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回應老闆可能的疑問：為什麼不用更大的模型？答案是刻意的取捨。270M 讓整套系統能在便宜硬體上離線跑，而把精確度靠規則層補足——這正是這個展示的技術亮點：用最小的模型做到可用的品質。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測試段開場。核心理念：不相信小模型天生可靠，而是靠測試把品質「逼」出來。展場訪客會用各種亂七八糟的方式打字，我們的做法是自己先模擬這些情境攻擊系統。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六套測試各有分工。守衛庫防回退、短句全枚舉證明產品本體、多輪對話證明上下文記憶、標準集與 OOV 集是路由準確率基準。全部在 Windows 開發機與樹莓派兩個平台都跑到 100% 才算過。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全枚舉的核心價值：把「多輪」這個看似無邊無際的東西，定義成一個可以數的空間——60 個商品乘上 33 種追問形，就是 1980 個兩輪對話。33 種追問形不是隨便想的，是從前面四輪隨機測試挖到的真 bug 反推出來的六大族。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全枚舉的成果。左右對比：四輪隨機測試挖到 27 個，但全枚舉一次照出 29 個——而且看得到全貌（1980 情境）。這 29 個高度集中在兩個根因，兩處修補就解決。最重要的發現：這些其實是單句就存在的 bug，全枚舉把舊測試的盲區補上了。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收斂的量化證據。左邊柱狀圖：守衛庫從 138 句一路長到 866 句，每個數字都是累積的防護網。右邊：多輪 bug 軌跡 6-7-6-8 沒收斂，正好證明隨機測試的極限，催生了全枚舉的方法。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強調這不是實驗室數據，是真的在樹莓派硬體上跑過的。33 小時連續、1600 次推論、溫度穩定不降速。右邊是展場特別做的穩定性設計：離線運行、斷線自癒、一鍵重置、寫入二次確認。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★硬體路線圖頁（點綴，但對晶片團隊的參展定位很重要）。左邊實色=現在已實測：270M 在 RPi5 純 CPU、~30 t/s、六套回歸雙平台 100%、極低成本。右邊白底虛線框=下一階段 roadmap 目標（明確標成目標，不假裝已達成）：加自研晶片加速 → 跑 3B/7B 更大模型 → 能力從查詢升級到真正對話。核心訊息：軟體與應用已就緒，就等晶片把算力天花板拉高。誠實區分實測與目標，保住對評審的信任。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 POC 全鏈架構（2026-07 新增）。核心設計：語音只是新入口，倉管後端完全不動。前端 Siri 式點一下自動結束；Fun-ASR-Nano 在 RPi5 純 CPU 離線辨識（展場無網路也能跑）；OpenCC 轉繁 + 同音修正層清理 ASR 錯字；最後交回既有倉管 WS。同音修正層刻意只掛 /api/asr 出口——打字訪客零影響、守衛零風險。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★語音展場可行性的量化證據。三環境通過率 78/77/73%——關鍵訊息是「噪音幾乎不影響」（light −1%、heavy −5%）。方法上的巧思：真人只念一次、存下錄音，之後自動混噪重測，念一次測三種環境、對比公平。三大發現：噪音不是問題、音量才是關鍵變數、失敗幾乎全是 ASR 模型極限（訪客重講可解）。最終結論：現有硬體（webcam + 270M）＋正常音量就夠展場用，不用花錢升級。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語音容錯的兩層設計，都是真人聲實測一句句磨出來的。左＝發音容錯層：ASR 錯字多是「同音但字形差很遠」（滑鼠→華數），字形比對救不到、轉拼音就中；還做了捲舌音節還原（ㄕ/ㄗ 不分）。門檻 0.82 是實測調出來的——太低會把「衛生棉」誤配成「衛生紙」。右＝語音同音修正：只掛 ASR 出口，所以打字訪客完全不受影響、守衛零風險。關鍵原則：每條規則都有守衛把關，改規則前跑護欄測試。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總結三張卡：價值、技術、品質。收尾一句下一步。整份簡報的主軸——用最小的模型、最便宜的硬體，做到可以用數字證明的品質。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16002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邊緣 AI 應用展示 · 晶片團隊軟體成果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057400"/>
            <a:ext cx="10789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FFFFFF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306324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BBBBB"/>
                </a:solidFill>
                <a:latin typeface="Microsoft JhengHei"/>
              </a:rPr>
              <a:t>一句自然語言 → 一秒拿到正確答案，全程在一台 Raspberry Pi 上跑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邊緣級小模型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100+ 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品質收斂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535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雙平台回歸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Arial"/>
              </a:rPr>
              <a:t>FunctionGemma 270M 微調模型 × 多層校正架構 × RPi5 CPU 部署 → 下一步接自研晶片加速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倉管人員要的，不是又一套要學的系統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444444"/>
                </a:solidFill>
                <a:latin typeface="Microsoft JhengHei"/>
              </a:rPr>
              <a:t>傳統倉管系統</a:t>
            </a:r>
          </a:p>
        </p:txBody>
      </p:sp>
      <p:sp>
        <p:nvSpPr>
          <p:cNvPr id="6" name="Oval 5"/>
          <p:cNvSpPr/>
          <p:nvPr/>
        </p:nvSpPr>
        <p:spPr>
          <a:xfrm>
            <a:off x="987552" y="242316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1912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要記選單在哪、欄位怎麼填</a:t>
            </a:r>
          </a:p>
        </p:txBody>
      </p:sp>
      <p:sp>
        <p:nvSpPr>
          <p:cNvPr id="9" name="Oval 8"/>
          <p:cNvSpPr/>
          <p:nvPr/>
        </p:nvSpPr>
        <p:spPr>
          <a:xfrm>
            <a:off x="987552" y="320040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查個庫存點五六層才到</a:t>
            </a:r>
          </a:p>
        </p:txBody>
      </p:sp>
      <p:sp>
        <p:nvSpPr>
          <p:cNvPr id="12" name="Oval 11"/>
          <p:cNvSpPr/>
          <p:nvPr/>
        </p:nvSpPr>
        <p:spPr>
          <a:xfrm>
            <a:off x="987552" y="397764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現場拿手機打字，介面難用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75488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客製一次動輒數十萬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242316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直接用講的：「藍牙耳機還剩幾個」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0" y="320040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一句話一秒回答，免選單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9776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掃 QR 手機就能問，展場離線也行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47548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一台樹莓派跑得動，硬體成本極低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訪客能問什麼：七大查詢 + 三類進階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庫存查詢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商品 / 倉庫 / 類別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75818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5818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818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進出紀錄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818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今天 / 本週 / 本月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3679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9282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282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282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缺貨警示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撐幾天 + 建議補多少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7143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2746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2746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746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倉庫比較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746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任兩倉對比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354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熱銷排行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期間 / 類別 TOP 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0215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75818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5818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5818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到期預警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5818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N 天內即將過期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3679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59282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9282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9282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相關推薦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9282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購物籃搭售分析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7143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427464" y="3941064"/>
            <a:ext cx="658368" cy="65836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2746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746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Agent 進階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2746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根因分析 / 補貨 / 排程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IT FEELS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訪客怎麼問，系統怎麼答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45920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9202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2184" y="1755648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藍牙耳機還剩幾個</a:t>
            </a:r>
          </a:p>
        </p:txBody>
      </p:sp>
      <p:sp>
        <p:nvSpPr>
          <p:cNvPr id="8" name="Chevron 7"/>
          <p:cNvSpPr/>
          <p:nvPr/>
        </p:nvSpPr>
        <p:spPr>
          <a:xfrm>
            <a:off x="5166360" y="1947672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0" y="1645920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80760" y="1920240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55648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三倉共 227 件（北 141 / 中 42 / 南 44）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2779776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3544" y="3054096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889504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哪些快沒貨了</a:t>
            </a:r>
          </a:p>
        </p:txBody>
      </p:sp>
      <p:sp>
        <p:nvSpPr>
          <p:cNvPr id="17" name="Chevron 16"/>
          <p:cNvSpPr/>
          <p:nvPr/>
        </p:nvSpPr>
        <p:spPr>
          <a:xfrm>
            <a:off x="5166360" y="3081528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2160" y="2779776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80760" y="3054096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889504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42 項低於安全庫存，最急：藍牙喇叭剩 15 件、12 天斷貨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3913632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418795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72184" y="4023360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北倉進 50 個滑鼠</a:t>
            </a:r>
          </a:p>
        </p:txBody>
      </p:sp>
      <p:sp>
        <p:nvSpPr>
          <p:cNvPr id="26" name="Chevron 25"/>
          <p:cNvSpPr/>
          <p:nvPr/>
        </p:nvSpPr>
        <p:spPr>
          <a:xfrm>
            <a:off x="5166360" y="4215384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852160" y="3913632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080760" y="4187952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60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023360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跳出確認卡 → 按鈕確認才寫入庫存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" y="5047488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23544" y="532180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72184" y="5157216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電動牙刷的帳怎麼兜不起來</a:t>
            </a:r>
          </a:p>
        </p:txBody>
      </p:sp>
      <p:sp>
        <p:nvSpPr>
          <p:cNvPr id="35" name="Chevron 34"/>
          <p:cNvSpPr/>
          <p:nvPr/>
        </p:nvSpPr>
        <p:spPr>
          <a:xfrm>
            <a:off x="5166360" y="5349240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852160" y="5047488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80760" y="5321808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5157216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自動查 PO → 找到短收 → 建議聯絡供應商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AGENT · 三層自動化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不是查詢介面，是會自己做事的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感知 → 推理 → 行動，業界對 AI Agent 的三個標準能力，本系統三層都真的實作、都在背景跑。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1031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感知 · PERCEIVE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系統自己盯，不用人問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182880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114800" y="2084832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2071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09397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缺貨警示：背景每小時掃描，低於安全庫存主動推播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0" y="2596896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25831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60604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到期預警：自動追蹤保存期限，N 天內主動提醒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29184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35661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推理 · REASON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" y="400507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系統自己判斷該怎麼辦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329184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14800" y="35478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35341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355701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根因分析：帳兜不攏 → 自動掃 PO → 找短收 → 給建議（3 步推理）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0" y="4059936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40462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406908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自動補貨：算出撐幾天、該補多少，產採購單草稿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475488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02920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行動 · 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546811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系統自己動手做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86200" y="475488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14800" y="50109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0" y="49971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502005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定時排程：「每天 8 點跑盤點」背景每分鐘檢查、到點自動執行</a:t>
            </a:r>
          </a:p>
        </p:txBody>
      </p:sp>
      <p:sp>
        <p:nvSpPr>
          <p:cNvPr id="32" name="Oval 31"/>
          <p:cNvSpPr/>
          <p:nvPr/>
        </p:nvSpPr>
        <p:spPr>
          <a:xfrm>
            <a:off x="4114800" y="5522976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0" y="5509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553212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一句話改庫存：自然語言 → 抽參數 → 執行（10 種 HITL 確認把關）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SIGNATURE · OOV 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訪客怎麼亂打，系統照樣聽懂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展場訪客不會照規矩打字——錯字、注音殘字、講一半、中英夾雜、講俗稱。270M 小模型 + 多層容錯，照樣抓對商品。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錯字 / 同音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「藍芽耳機」「汽泡水」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「悶燒灌」「瑜加墊」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自動修正抓對商品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講一半 / 不完整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「那個充電的」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「洗衣的那個精」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補全成完整商品名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27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注音殘字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「安全ㄎ存多少」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「那ㄍ快到期嗎」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注音還原成國字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中英夾雜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「藍牙 earphone 庫存」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「coffee 豆剩多少」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中英混打照抓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51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語序顛倒 / 口語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「庫存藍牙耳機」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「剩多少氣泡水啊」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不管詞序都懂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827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13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俗稱 / 別名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「充手機的寶」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「做瑜伽的墊子」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對應到正式品名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· 多層容錯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小模型抓不準？多層防線把它接住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抽出的 keyword 常常髒、殘、錯。四層 fallback 逐層修，抓不到才反問——絕不亂猜、絕不幻覺出錯的商品。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749808" cy="93268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74519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874519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199339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222A45"/>
                </a:solidFill>
                <a:latin typeface="Microsoft JhengHei"/>
              </a:rPr>
              <a:t>雜詞剝除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377439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剝掉倉庫名 / 量詞 / 語氣詞 / 功能詞尾巴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993391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北倉的藍芽耳機還有幾個  →  藍芽耳機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953511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953511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4480" y="2953511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07238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8E76"/>
                </a:solidFill>
                <a:latin typeface="Microsoft JhengHei"/>
              </a:rPr>
              <a:t>精確 / 錯字修復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45643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同音錯字表 + 注音還原，換成正確品名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72383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藍芽耳機  →  無線藍牙耳機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32503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4032503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4032503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415137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C49A"/>
                </a:solidFill>
                <a:latin typeface="Microsoft JhengHei"/>
              </a:rPr>
              <a:t>模糊比對 fuzzy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53542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剝規格 + 雙向滑窗 + 字元重疊，容忍變體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151375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充手機的寶  →  行動電源 10000mAh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5111495"/>
            <a:ext cx="749808" cy="932688"/>
          </a:xfrm>
          <a:prstGeom prst="roundRect">
            <a:avLst>
              <a:gd name="adj" fmla="val 8000"/>
            </a:avLst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111495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54480" y="5111495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83080" y="5230367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F0A030"/>
                </a:solidFill>
                <a:latin typeface="Microsoft JhengHei"/>
              </a:rPr>
              <a:t>抓不到就反問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561441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列疑似商品請選，附庫存概況，絕不亂猜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230367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帽子  →  你是指遮陽帽還是毛帽？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小模型只做路由，業務邏輯交給伺服器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設計理念：270M 小模型負責「意圖分類」，Server 端負責精確計算與業務規則——讓 LLM 只做它擅長的事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2880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82880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91109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44444"/>
                </a:solidFill>
                <a:latin typeface="Arial"/>
              </a:rPr>
              <a:t>使用者輸入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91109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口語自然語言（含錯字 / 注音 / 英文俗稱）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45059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15184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615184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2615184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269748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Query Rewriting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697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50+ 條規則（6 大類）把口語 → 標準句型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3697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3401568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0156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401568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348386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Arial"/>
              </a:rPr>
              <a:t>intent_clf 主路由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483864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FastText 14 類意圖分類，先決定用哪個功能（98.9% 準，下頁詳介）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0233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4187952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4187952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63040" y="4187952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0" y="427024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Arial"/>
              </a:rPr>
              <a:t>FunctionGemma 270M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27024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小模型只抽參數：商品 / 倉庫 / 時間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480974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974336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497433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63040" y="4974336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5056632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dispatch + 校正層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5056632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C0–C18 規則層：最後防線，擋幻覺、補接地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59612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" y="576072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576072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63040" y="576072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37360" y="584301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Arial"/>
              </a:rPr>
              <a:t>業務工具執行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584301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查詢 / 庫存異動 / 根因分析 / 排程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QUIET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小主角 FastText：路由交給穩的，生成交給會的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14 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自定義意圖標籤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0.5GB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intent_clf.bin 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98.9%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路由準確率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毫秒級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CPU 路由延遲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2724912"/>
            <a:ext cx="5989320" cy="34015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292608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為什麼主路由不是 270M，是它</a:t>
            </a:r>
          </a:p>
        </p:txBody>
      </p:sp>
      <p:sp>
        <p:nvSpPr>
          <p:cNvPr id="18" name="Oval 17"/>
          <p:cNvSpPr/>
          <p:nvPr/>
        </p:nvSpPr>
        <p:spPr>
          <a:xfrm>
            <a:off x="987552" y="345643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44271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3383280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先分類、再生成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6192" y="3675888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每句先由 FastText 判斷「做什麼」，高信心直接跳過 LLM——實測過半句子根本不勞 270M 出手，一句回答快在這裡</a:t>
            </a:r>
          </a:p>
        </p:txBody>
      </p:sp>
      <p:sp>
        <p:nvSpPr>
          <p:cNvPr id="22" name="Oval 21"/>
          <p:cNvSpPr/>
          <p:nvPr/>
        </p:nvSpPr>
        <p:spPr>
          <a:xfrm>
            <a:off x="987552" y="431596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30225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424281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確定性路由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535424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向量比對、同句永遠同答案，沒有 LLM 的浮點抖動——雙平台（WIN11 / RPi5）行為一致的基石</a:t>
            </a:r>
          </a:p>
        </p:txBody>
      </p:sp>
      <p:sp>
        <p:nvSpPr>
          <p:cNvPr id="26" name="Oval 25"/>
          <p:cNvSpPr/>
          <p:nvPr/>
        </p:nvSpPr>
        <p:spPr>
          <a:xfrm>
            <a:off x="987552" y="5175504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16178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5102352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從零訓練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5394960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FastText 出廠不帶任何類別（它是演算法不是現成模型）；14 類依倉管工具集自定義，語料與 LLM 微調同源、判斷口徑一致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31152" y="2724912"/>
            <a:ext cx="4590288" cy="34015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2926080"/>
            <a:ext cx="4005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14 類意圖一覽（標籤名＝工具名）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43814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查詢 ×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730752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庫存 / 進出 / 缺貨 / 熱銷 / 連帶 / 比倉 / 比期間 / 清單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20624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鑑識 ×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4498848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查帳追根因（search_log 自動比對進出差異）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97433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控制 ×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266944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改設定 / 警示 / 採購單 / 報表 / 白名單腳本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724144"/>
            <a:ext cx="40050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分類結果直接就是要呼叫的功能——沒有中間翻譯層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WHY SO SMALL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270M：故意選小，不是能力不足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本專案模型參數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3-8B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業界主流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~30 t/s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RPi5 CPU 推論速度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 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雲端 API 費用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063240"/>
            <a:ext cx="10853928" cy="3017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32918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小模型的三個好處</a:t>
            </a:r>
          </a:p>
        </p:txBody>
      </p:sp>
      <p:sp>
        <p:nvSpPr>
          <p:cNvPr id="18" name="Oval 17"/>
          <p:cNvSpPr/>
          <p:nvPr/>
        </p:nvSpPr>
        <p:spPr>
          <a:xfrm>
            <a:off x="1033272" y="381304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79933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77056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成本極低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387705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跑在一台樹莓派 CPU 上，不需 GPU、不付雲端 API 費用</a:t>
            </a:r>
          </a:p>
        </p:txBody>
      </p:sp>
      <p:sp>
        <p:nvSpPr>
          <p:cNvPr id="22" name="Oval 21"/>
          <p:cNvSpPr/>
          <p:nvPr/>
        </p:nvSpPr>
        <p:spPr>
          <a:xfrm>
            <a:off x="1033272" y="45262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5125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81912" y="459028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離線可用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36392" y="4590288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展場用手機熱點就能跑，不依賴網路，資料不出場</a:t>
            </a:r>
          </a:p>
        </p:txBody>
      </p:sp>
      <p:sp>
        <p:nvSpPr>
          <p:cNvPr id="26" name="Oval 25"/>
          <p:cNvSpPr/>
          <p:nvPr/>
        </p:nvSpPr>
        <p:spPr>
          <a:xfrm>
            <a:off x="1033272" y="523951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3272" y="522579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1912" y="53035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定位精準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36392" y="53035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270M 當「路由器」而非「決策者」——分類意圖它綽綽有餘，精確計算交給規則層，反而更穩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21945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TESTING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651760"/>
            <a:ext cx="10789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展場訪客會亂打字，</a:t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所以我們先自己把它打壞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42062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BBBBBB"/>
                </a:solidFill>
                <a:latin typeface="Microsoft JhengHei"/>
              </a:rPr>
              <a:t>小模型的先天限制是輸出不穩定。與其祈禱它不出錯，不如用大量真實情境反覆攻擊，把每個破口修掉、再存成回歸測試，確保永不重犯。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SIX TEST SUITES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六套回歸測試，全部雙平台 100%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6304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161848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150876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守衛庫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33672" y="150876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1122 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2472" y="150876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每次修 bug 都存成守衛，防止回退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2368296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52374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054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14016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短句全枚舉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3672" y="2414016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953 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2472" y="2414016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60 商品 × 模板全展開，證明短句 100%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273552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42900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4107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319272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多輪對話全枚舉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3672" y="3319272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1980 情境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2472" y="3319272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首句 + 追問，證明「記得上一個商品」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4178808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68680" y="433425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1596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224528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未知商品抗性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33672" y="4224528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60+ 情境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62472" y="4224528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新增商品後查、問不存在的、撞名、亂取名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" y="5084064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8680" y="523951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221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81912" y="5129784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81 題標準集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33672" y="5129784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62472" y="5129784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路由準確率基準測試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" y="598932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68680" y="614476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612648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81912" y="603504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OOV 口語集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33672" y="603504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62472" y="603504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沒見過的口語 / 錯字容錯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EXHAUSTIVE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怎麼證明「多輪對話」不會出錯？把它數出來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32588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隨機測試永遠測不完，只是「抽樣」。真正的保證來自「窮舉」——把整個空間定義成可以數的組合，全部跑一遍。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2194560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3957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多輪短句空間 = 可窮舉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7889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60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商品   ×   </a:t>
            </a:r>
            <a:r>
              <a:rPr sz="2600" b="1">
                <a:solidFill>
                  <a:srgbClr val="FFFFFF"/>
                </a:solidFill>
                <a:latin typeface="Arial"/>
              </a:rPr>
              <a:t>33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種追問形   =   </a:t>
            </a:r>
            <a:r>
              <a:rPr sz="2600" b="1">
                <a:solidFill>
                  <a:srgbClr val="00C49A"/>
                </a:solidFill>
                <a:latin typeface="Arial"/>
              </a:rPr>
              <a:t>1980 </a:t>
            </a:r>
            <a:r>
              <a:rPr sz="1800" b="0">
                <a:solidFill>
                  <a:srgbClr val="FFFFFF"/>
                </a:solidFill>
                <a:latin typeface="Microsoft JhengHei"/>
              </a:rPr>
              <a:t>個兩輪對話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3886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33 種追問形 = 從實測 bug 反推的六大族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代詞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1952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那個呢 / 它還剩幾個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功能詞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41264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進出 / 到期 / 多少錢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46136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9016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倉別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南倉呢 / 北倉多少 / 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語助詞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1952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呢 / 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06824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寫入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北倉進 20 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46136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9016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錯字注音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那個近出紀錄呢 / 安全ㄎ存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SWEEP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全枚舉抓出隨機測試漏掉的破口，一次修光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Microsoft JhengHei"/>
              </a:rPr>
              <a:t>隨機採樣（4 輪）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777777"/>
                </a:solidFill>
                <a:latin typeface="Arial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62072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個 bug / 102 情境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77777"/>
                </a:solidFill>
                <a:latin typeface="Microsoft JhengHei"/>
              </a:rPr>
              <a:t>只看到冰山一角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全枚舉（1 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008E76"/>
                </a:solidFill>
                <a:latin typeface="Arial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8E76"/>
                </a:solidFill>
                <a:latin typeface="Microsoft JhengHei"/>
              </a:rPr>
              <a:t>個 bug / 1980 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8E76"/>
                </a:solidFill>
                <a:latin typeface="Microsoft JhengHei"/>
              </a:rPr>
              <a:t>通過率 98.5%，破口全面現形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4069080"/>
            <a:ext cx="10853928" cy="19202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42793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29 個破口 → 兩個根因 → 兩處修補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4754880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28 個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共用字的商品（USB風扇 / 素T…）進出查詢把別的品項也算進去 → 加分數門檻，一修全清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5285232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1 個 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「清潔手套」的「清潔」被誤當類別詞 → 商品名優先，讓給完整比對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574243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Microsoft JhengHei"/>
              </a:rPr>
              <a:t>關鍵發現：這些其實是「單句就會錯」的 bug，只是舊測試沒涵蓋到這幾個商品的這個功能組合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CONVERGENCE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100+ 輪迭代，守衛庫從 138 句長到 1122 句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67512" y="1600200"/>
          <a:ext cx="55778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92240" y="1600200"/>
            <a:ext cx="5029200" cy="3291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810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多輪真 bug 軌跡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22860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r32→r35：</a:t>
            </a:r>
            <a:r>
              <a:rPr sz="2000" b="1">
                <a:solidFill>
                  <a:srgbClr val="F0A030"/>
                </a:solidFill>
                <a:latin typeface="Arial"/>
              </a:rPr>
              <a:t>  6 → 7 → 6 →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88036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四輪隨機測試沒收斂——每輪只看到不同角落。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這反而證明：光靠隨機測不夠，必須全枚舉。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3977639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全枚舉修完：</a:t>
            </a:r>
            <a:r>
              <a:rPr sz="1500" b="1">
                <a:solidFill>
                  <a:srgbClr val="008E76"/>
                </a:solidFill>
                <a:latin typeface="Arial"/>
              </a:rPr>
              <a:t>  1980 / 1980 全綠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5212080"/>
            <a:ext cx="10853928" cy="86868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5394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8E76"/>
                </a:solidFill>
                <a:latin typeface="Microsoft JhengHei"/>
              </a:rPr>
              <a:t>每修一個 bug 就存一句守衛 → 882 句形成防護網，任何改動只要跑回歸就知道有沒有踩壞舊功能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REAL HARDWARE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不是實驗室數字：樹莓派上真的扛得住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33 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連續運行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1600+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次推論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44°C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溫度穩定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~30 t/s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速度零衰減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雙平台驗收原則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840480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本機（Windows）快速迭代，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樹莓派（RPi5 CPU）最終驗收。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單向規則：樹莓派過 = 過。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首次上機就抓到本機測不出的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平台精度差異句。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展場穩定性設計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0" y="3840480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826764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3858768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離線手機熱點運行，資料不出場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4352544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33882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370832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Wi-Fi 掉線自癒 watchdog（10 秒自檢）</a:t>
            </a:r>
          </a:p>
        </p:txBody>
      </p:sp>
      <p:sp>
        <p:nvSpPr>
          <p:cNvPr id="27" name="Oval 26"/>
          <p:cNvSpPr/>
          <p:nvPr/>
        </p:nvSpPr>
        <p:spPr>
          <a:xfrm>
            <a:off x="6583680" y="4864608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850892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882896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一鍵重置回乾淨快照，玩壞也回得來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0" y="5376672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536295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8" y="5394960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寫入操作二次確認，防誤觸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ROADMAP · 硬體路線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軟體已就緒，就等算力放大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同一套軟體架構，換上更強的算力就能跑更大的模型——這正是晶片團隊的下一步。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20240"/>
            <a:ext cx="5074920" cy="35661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488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現在 · 已實測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Arial"/>
              </a:rPr>
              <a:t>RPi5 CPU（純軟體）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3392" y="3200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FunctionGemma 270M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373075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~30 tokens/s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426110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六套回歸雙平台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成本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47914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一台樹莓派，無 GPU / 無雲端</a:t>
            </a:r>
          </a:p>
        </p:txBody>
      </p:sp>
      <p:sp>
        <p:nvSpPr>
          <p:cNvPr id="16" name="Chevron 15"/>
          <p:cNvSpPr/>
          <p:nvPr/>
        </p:nvSpPr>
        <p:spPr>
          <a:xfrm>
            <a:off x="5897880" y="3429000"/>
            <a:ext cx="566928" cy="45720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29400" y="1920240"/>
            <a:ext cx="489204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21488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下一階段 · Roadmap 目標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56032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Arial"/>
              </a:rPr>
              <a:t>RPi5 + 自研晶片加速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32004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跳階到 3B / 7B 更大 LLM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0" y="37307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從「查詢路由」→ 真正的推理對話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架構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426110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軟體不動，換算力即可放大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狀態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0" y="479145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晶片開發中，應用已備妥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關鍵訊息：連純 CPU 都已跑出生產級品質——軟體、測試、落地全部就緒，就等自研晶片把天花板拉高。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全離線語音輸入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訪客用「講的」查倉管，ASR 全程跑在樹莓派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打字對展場訪客不夠自然——加一層離線語音輸入，同一套倉管後端不動，語音只是新入口。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993391"/>
            <a:ext cx="457200" cy="45720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7510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🎙️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1929383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前端錄音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0832" y="1929383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Siri 式：點一下 → 講 → 靜音自動結束（瀏覽器 VAD 偵測）</a:t>
            </a:r>
          </a:p>
        </p:txBody>
      </p:sp>
      <p:sp>
        <p:nvSpPr>
          <p:cNvPr id="10" name="Chevron 9"/>
          <p:cNvSpPr/>
          <p:nvPr/>
        </p:nvSpPr>
        <p:spPr>
          <a:xfrm>
            <a:off x="5943600" y="2587751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2734055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852927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83463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2788919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Fun-ASR-Nano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2788919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GGUF + llama.cpp，RPi5 CPU 純離線辨識（~2.8s / 句）</a:t>
            </a:r>
          </a:p>
        </p:txBody>
      </p:sp>
      <p:sp>
        <p:nvSpPr>
          <p:cNvPr id="16" name="Chevron 15"/>
          <p:cNvSpPr/>
          <p:nvPr/>
        </p:nvSpPr>
        <p:spPr>
          <a:xfrm>
            <a:off x="5943600" y="3447287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93591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712463"/>
            <a:ext cx="457200" cy="457200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69417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3648455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OpenCC 轉繁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2" y="3648455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簡體 → 繁體，順便轉台灣用語（滑鼠 / 藍牙）</a:t>
            </a:r>
          </a:p>
        </p:txBody>
      </p:sp>
      <p:sp>
        <p:nvSpPr>
          <p:cNvPr id="22" name="Chevron 21"/>
          <p:cNvSpPr/>
          <p:nvPr/>
        </p:nvSpPr>
        <p:spPr>
          <a:xfrm>
            <a:off x="5943600" y="4306823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4453127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" y="4571999"/>
            <a:ext cx="457200" cy="457200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55371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27632" y="4507991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同音修正層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0832" y="4507991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倉別 / 動詞 / 量詞 / 異體字——只掛 ASR 出口，不碰倉管核心</a:t>
            </a:r>
          </a:p>
        </p:txBody>
      </p:sp>
      <p:sp>
        <p:nvSpPr>
          <p:cNvPr id="28" name="Chevron 27"/>
          <p:cNvSpPr/>
          <p:nvPr/>
        </p:nvSpPr>
        <p:spPr>
          <a:xfrm>
            <a:off x="5943600" y="5166359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312663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3544" y="5431535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541324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7632" y="5367527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倉管 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0832" y="5367527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既有守衛庫 + 發音容錯層接手，回答與打字完全一致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展場噪音實測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念一次真人聲，自動測三種環境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方法突破：真人念一次乾淨版並存錄音，用同一份錄音自動混入賣場人潮噪音重測——對比最公平。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乾淨（正常音量）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一般展場 −18dB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7576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2168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尖峰吵雜 −8dB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52044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776472"/>
            <a:ext cx="219456" cy="21945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" y="359359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噪音幾乎零影響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359359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一般展場 −1%、尖峰只 −5%；純被噪音壓垮的僅 5 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38912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645152"/>
            <a:ext cx="219456" cy="219456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446227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音量才是關鍵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65192" y="446227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小聲時摩擦音（ㄕ/ㄘ）糊掉→亂猜；正常音量直接解決大半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525780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5513832"/>
            <a:ext cx="219456" cy="21945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7320" y="533095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失敗多為 ASR 極限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65192" y="533095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整詞聽錯，訪客看辨識文字重講即可，非系統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61722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Microsoft JhengHei"/>
              </a:rPr>
              <a:t>結論：webcam + 270M + 正常音量＝展場夠用，不需升級模型或麥克風。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容錯設計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ASR 會聽錯，兩層容錯把它接住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小模型辨識不完美（滑鼠→華數/華族）。兩層容錯——真人聲實測一句句磨出來——讓聽錯也答對。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5257800" cy="34290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9456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① 發音容錯層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60604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字形救不到 → 轉拼音比對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10896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108960"/>
            <a:ext cx="44805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同音字形遠：滑鼠→華數，字形比對 0 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52958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29584"/>
            <a:ext cx="44805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轉拼音比對即中（huashu ≈ huashu）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9502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950208"/>
            <a:ext cx="44805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捲舌音節還原：ㄕ/ㄗ 混淆也接得住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37083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370832"/>
            <a:ext cx="44805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門檻 0.82 防誤配（衛生棉≠衛生紙）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7914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791456"/>
            <a:ext cx="44805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字形優先、發音救底 → 守衛零回歸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1965960"/>
            <a:ext cx="5074920" cy="3429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219456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0A030"/>
                </a:solidFill>
                <a:latin typeface="Microsoft JhengHei"/>
              </a:rPr>
              <a:t>② 語音同音修正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260604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掛 ASR 出口，不碰倉管核心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310896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13448" y="3108960"/>
            <a:ext cx="42976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倉別：總/藏/昌 倉 → 中/北 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52958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3448" y="3529584"/>
            <a:ext cx="42976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動詞：近→進、谷→補（吵雜劣化）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9502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13448" y="3950208"/>
            <a:ext cx="42976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量詞：臺→台（OpenCC 轉繁差異）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437083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13448" y="4370832"/>
            <a:ext cx="42976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異體字：溼→濕、賬→帳、周→週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47914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13448" y="4791456"/>
            <a:ext cx="42976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打字訪客零影響、守衛零風險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設計原則：每一條容錯規則都有守衛把關，改規則前先跑護欄測試——聽錯可以救，但不能救錯。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64008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05156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一句話查倉管，跑在樹莓派，品質可證明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783080"/>
            <a:ext cx="10853928" cy="8412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1832" y="2002536"/>
            <a:ext cx="530352" cy="53035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984248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9072" y="1920240"/>
            <a:ext cx="14630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C49A"/>
                </a:solidFill>
                <a:latin typeface="Microsoft JhengHei"/>
              </a:rPr>
              <a:t>價值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1920240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JhengHei"/>
              </a:rPr>
              <a:t>自然語言問倉管，一秒回答；手機掃碼、離線可用、硬體成本極低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770632"/>
            <a:ext cx="10853928" cy="8412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990088"/>
            <a:ext cx="530352" cy="53035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971800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907792"/>
            <a:ext cx="14630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C49A"/>
                </a:solidFill>
                <a:latin typeface="Microsoft JhengHei"/>
              </a:rPr>
              <a:t>技術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2112" y="2907792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JhengHei"/>
              </a:rPr>
              <a:t>270M 小模型當路由器 + 規則層當決策者，業界邊緣 Agent 的正解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758184"/>
            <a:ext cx="10853928" cy="8412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1832" y="3977640"/>
            <a:ext cx="530352" cy="53035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959352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9072" y="3895344"/>
            <a:ext cx="14630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3895344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JhengHei"/>
              </a:rPr>
              <a:t>六套回歸雙平台 100%；守衛庫 1122 句把「可靠」變成數字，不靠祈禱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745736"/>
            <a:ext cx="10853928" cy="8412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1832" y="4965192"/>
            <a:ext cx="530352" cy="53035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4946904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19072" y="4882896"/>
            <a:ext cx="14630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C49A"/>
                </a:solidFill>
                <a:latin typeface="Microsoft JhengHei"/>
              </a:rPr>
              <a:t>語音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82112" y="4882896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JhengHei"/>
              </a:rPr>
              <a:t>全離線 ASR 展場可用；三環境噪音實測，現有硬體 + 正常音量就夠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5852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下一步：展前待辦（demo 基準日對齊、展前真機全量驗收）——重置鈕 / 開機自啟 / Wi-Fi 自癒已完成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