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A1A2E"/>
                </a:solidFill>
                <a:latin typeface="Microsoft JhengHei"/>
              </a:rPr>
              <a:t>守衛庫累積：每輪測完把破口存成守衛句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中文守衛庫</c:v>
                </c:pt>
              </c:strCache>
            </c:strRef>
          </c:tx>
          <c:spPr>
            <a:ln w="28575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起步</c:v>
                </c:pt>
                <c:pt idx="1">
                  <c:v>r30</c:v>
                </c:pt>
                <c:pt idx="2">
                  <c:v>r45</c:v>
                </c:pt>
                <c:pt idx="3">
                  <c:v>r55</c:v>
                </c:pt>
                <c:pt idx="4">
                  <c:v>r60</c:v>
                </c:pt>
                <c:pt idx="5">
                  <c:v>r65</c:v>
                </c:pt>
                <c:pt idx="6">
                  <c:v>r70</c:v>
                </c:pt>
                <c:pt idx="7">
                  <c:v>r75</c:v>
                </c:pt>
                <c:pt idx="8">
                  <c:v>r81</c:v>
                </c:pt>
                <c:pt idx="9">
                  <c:v>8/6 補課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138</c:v>
                </c:pt>
                <c:pt idx="1">
                  <c:v>352</c:v>
                </c:pt>
                <c:pt idx="2">
                  <c:v>918</c:v>
                </c:pt>
                <c:pt idx="3">
                  <c:v>989</c:v>
                </c:pt>
                <c:pt idx="4">
                  <c:v>1025</c:v>
                </c:pt>
                <c:pt idx="5">
                  <c:v>1039</c:v>
                </c:pt>
                <c:pt idx="6">
                  <c:v>1050</c:v>
                </c:pt>
                <c:pt idx="7">
                  <c:v>1075</c:v>
                </c:pt>
                <c:pt idx="8">
                  <c:v>1122</c:v>
                </c:pt>
                <c:pt idx="9">
                  <c:v>1149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英文守衛庫</c:v>
                </c:pt>
              </c:strCache>
            </c:strRef>
          </c:tx>
          <c:spPr>
            <a:ln w="28575">
              <a:solidFill>
                <a:srgbClr val="222A45"/>
              </a:solidFill>
            </a:ln>
          </c:spPr>
          <c:cat>
            <c:strRef>
              <c:f>Sheet1!$A$2:$A$11</c:f>
              <c:strCache>
                <c:ptCount val="10"/>
                <c:pt idx="0">
                  <c:v>起步</c:v>
                </c:pt>
                <c:pt idx="1">
                  <c:v>r30</c:v>
                </c:pt>
                <c:pt idx="2">
                  <c:v>r45</c:v>
                </c:pt>
                <c:pt idx="3">
                  <c:v>r55</c:v>
                </c:pt>
                <c:pt idx="4">
                  <c:v>r60</c:v>
                </c:pt>
                <c:pt idx="5">
                  <c:v>r65</c:v>
                </c:pt>
                <c:pt idx="6">
                  <c:v>r70</c:v>
                </c:pt>
                <c:pt idx="7">
                  <c:v>r75</c:v>
                </c:pt>
                <c:pt idx="8">
                  <c:v>r81</c:v>
                </c:pt>
                <c:pt idx="9">
                  <c:v>8/6 補課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3">
                  <c:v>651</c:v>
                </c:pt>
                <c:pt idx="4">
                  <c:v>873</c:v>
                </c:pt>
                <c:pt idx="5">
                  <c:v>887</c:v>
                </c:pt>
                <c:pt idx="6">
                  <c:v>892</c:v>
                </c:pt>
                <c:pt idx="7">
                  <c:v>892</c:v>
                </c:pt>
                <c:pt idx="8">
                  <c:v>892</c:v>
                </c:pt>
                <c:pt idx="9">
                  <c:v>938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100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100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為什麼落差這麼大——這正是「合成音會嚴重高估」的又一次驗證（本頁為 38 句首測；補滿 100 句後的最新結果見後頁，安靜環境 80%）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