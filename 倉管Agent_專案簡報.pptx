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A1A2E"/>
                </a:solidFill>
                <a:latin typeface="Microsoft JhengHei"/>
              </a:rPr>
              <a:t>守衛庫句數成長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守衛庫句數</c:v>
                </c:pt>
              </c:strCache>
            </c:strRef>
          </c:tx>
          <c:spPr>
            <a:solidFill>
              <a:srgbClr val="00C49A"/>
            </a:solidFill>
          </c:spPr>
          <c:cat>
            <c:strRef>
              <c:f>Sheet1!$A$2:$A$6</c:f>
              <c:strCache>
                <c:ptCount val="5"/>
                <c:pt idx="0">
                  <c:v>初期</c:v>
                </c:pt>
                <c:pt idx="1">
                  <c:v>conv100
收斂</c:v>
                </c:pt>
                <c:pt idx="2">
                  <c:v>第二戰役
短句認證</c:v>
                </c:pt>
                <c:pt idx="3">
                  <c:v>多輪
全枚舉</c:v>
                </c:pt>
                <c:pt idx="4">
                  <c:v>語音 POC
真人聲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138</c:v>
                </c:pt>
                <c:pt idx="1">
                  <c:v>352</c:v>
                </c:pt>
                <c:pt idx="2">
                  <c:v>855</c:v>
                </c:pt>
                <c:pt idx="3">
                  <c:v>978</c:v>
                </c:pt>
                <c:pt idx="4">
                  <c:v>1122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Microsoft Jheng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封面。定位：這是晶片團隊的軟體成果——一個能展示邊緣 AI 落地的真實應用。一句話說清楚產品：自然語言問倉管、一秒回答、跑在便宜的樹莓派上。三個數字：270M 是模型只有 2.7 億參數（業界主流 3B-8B 的零頭）、100+ 輪是品質收斂的迭代次數、100% 是回歸測試通過率。底線一句話點出硬體路線圖：現在純 CPU、下一步接自研晶片加速。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痛點對照。左邊是傳統倉管系統的四個痛：要學、層級深、現場難用、客製貴。右邊是本專案的解法：用講的、一秒答、手機掃碼、樹莓派就能跑。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七大查詢工具（唯讀）加一組 Agent 進階工具。前七個是訪客最常問的；第八格 Agent 進階包含根因分析（帳對不上時自動查原因）、自動補貨、定時排程。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四組真實對話。第三個示範「寫入類」操作有 HITL 確認卡——不會打字就直接改庫存，一定要按按鈕，避免誤操作。第四個是 Agent 根因分析：不只查數字，會推理為什麼對不上。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★Agent 定位頁。核心論點：這不是查詢工具，是會自己做事的 Agent。業界對 AI Agent 的標準定義＝感知→推理→行動三個能力，本系統三層都真的實作、背景在跑。感知：警示每小時掃、到期預警主動提醒。推理：RCA 三步根因分析（不只查現況，還找原因給建議）、自動補貨算量。行動：排程每分鐘檢查自動執行、一句話改庫存。分寸：HITL 確認卡不是缺點是優點——Agent 提案、人拍板，符合企業對 AI 落地的安全要求。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招牌能力頁。這是軟體最難、最值得秀的地方：小模型還能扛住這些亂打。六類真實展場輸入——錯字、講一半、注音殘字、中英夾雜、語序顛倒、俗稱別名。全部抓對商品。這些例子都是實測語料裡的真句子，不是虛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OOV 容錯的技術原理：四層 fallback。①雜詞剝除②精確/錯字修復（同音錯字表+注音還原）③模糊比對 fuzzy（剝規格、雙向滑窗、字元重疊，容忍變體詞）④抓不到就反問（列疑似商品請選，絕不亂猜幻覺）。核心哲學：寧可反問，不可答錯。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六層架構，由上而下。核心洞見：270M 小模型輸出不穩定是先天限制，所以不讓它做決策，只做意圖分類與抽參數；真正的業務邏輯與精確計算放在Server 端的規則層（C0-C18）。這也是業界邊緣 Agent 的正解——小模型當路由器，不當決策者。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FastText 是 Facebook 開源的輕量文字分類技術：詞向量平均＋線性分類器，沒有生成、沒有推理，所以毫秒級、確定性（同句同答案）。重點澄清：FastText 出廠不帶任何分類類別——官方只有語言辨識模型和詞向量，意圖分類一定要自備語料從零訓練；我們的 14 類直接對應倉管工具名，訓練語料跟 LLM 微調同源（5,849 筆），所以 clf 和 LLM 判斷口徑一致。分工哲學：clf 管「做什麼」（路由），270M 管「參數是什麼」（抽取）——路由要穩定用分類器，抽取要泛化用 LLM，各用其長。高信心（conf≥0.8）且不需參數的功能直接跳過 LLM，是「一秒回答」的主要來源。彩蛋（可講）：這顆分類器曾因 fasttext×numpy2 不相容在展示機上靜默死亡三週，期間 100+ 輪、六套回歸照樣雙平台 100%——LLM+校正層獨自扛住，正是縱深防禦的實證；修復後展示機過半問題毫秒級回答、路由徽章首次亮起。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回應老闆可能的疑問：為什麼不用更大的模型？答案是刻意的取捨。270M 讓整套系統能在便宜硬體上離線跑，而把精確度靠規則層補足——這正是這個展示的技術亮點：用最小的模型做到可用的品質。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測試段開場。核心理念：不相信小模型天生可靠，而是靠測試把品質「逼」出來。展場訪客會用各種亂七八糟的方式打字，我們的做法是自己先模擬這些情境攻擊系統。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六套測試各有分工。守衛庫防回退、短句全枚舉證明產品本體、多輪對話證明上下文記憶、標準集與 OOV 集是路由準確率基準。全部在 Windows 開發機與樹莓派兩個平台都跑到 100% 才算過。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全枚舉的核心價值：把「多輪」這個看似無邊無際的東西，定義成一個可以數的空間——60 個商品乘上 33 種追問形，就是 1980 個兩輪對話。33 種追問形不是隨便想的，是從前面四輪隨機測試挖到的真 bug 反推出來的六大族。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全枚舉的成果。左右對比：四輪隨機測試挖到 27 個，但全枚舉一次照出 29 個——而且看得到全貌（1980 情境）。這 29 個高度集中在兩個根因，兩處修補就解決。最重要的發現：這些其實是單句就存在的 bug，全枚舉把舊測試的盲區補上了。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收斂的量化證據。左邊柱狀圖：守衛庫從 138 句一路長到 866 句，每個數字都是累積的防護網。右邊：多輪 bug 軌跡 6-7-6-8 沒收斂，正好證明隨機測試的極限，催生了全枚舉的方法。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強調這不是實驗室數據，是真的在樹莓派硬體上跑過的。33 小時連續、1600 次推論、溫度穩定不降速。右邊是展場特別做的穩定性設計：離線運行、斷線自癒、一鍵重置、寫入二次確認。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★硬體路線圖頁（點綴，但對晶片團隊的參展定位很重要）。左邊實色=現在已實測：270M 在 RPi5 純 CPU、~30 t/s、六套回歸雙平台 100%、極低成本。右邊白底虛線框=下一階段 roadmap 目標（明確標成目標，不假裝已達成）：加自研晶片加速 → 跑 3B/7B 更大模型 → 能力從查詢升級到真正對話。核心訊息：軟體與應用已就緒，就等晶片把算力天花板拉高。誠實區分實測與目標，保住對評審的信任。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語音 POC 全鏈架構（2026-07 新增）。核心設計：語音只是新入口，倉管後端完全不動。前端 Siri 式點一下自動結束；whisper.cpp 在 RPi5 純 CPU 離線辨識（展場無網路也能跑）；OpenCC 轉繁（僅中文版）+ 出口修正層清理 ASR 錯字；最後交回既有倉管 WS。同音修正層刻意只掛 /api/asr 出口——打字訪客零影響、守衛零風險。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★語音選型頁（技術評審向）。**這一頁 2026-07-27 全面改版**：原本用阿里的 Fun-ASR-Nano，後來定調**只用歐美模型**（供應鏈來源可控），中英兩版都換成 OpenAI whisper.cpp。換完的額外好處：中英共用同一套 runtime，不必維護兩套框架。選型結果：英文版 tiny.en（74MB / 0.94s / WER 9.3%）、中文版 base（141MB / 6.8s）。兩個值得講的洞見——①**反直覺**：base.en 比 tiny.en 更大更慢，WER 反而略差（10.2% vs 9.3%），因為倉管查詢句短、句型固定，tiny 的容量已經夠用，變大的收益顯現不出來；這推翻『模型越大越好』的直覺，也呼應整個專案『選對尺寸勝過選大尺寸』的主張。②**選型不能只看 WER**：中文版 base 真人 8 句字面只對 3 句，但端到端 8/8 全部答對——聽錯的『盡量啤酒酷醇』『無限滑鼠擴存』『瑜伽店』全被文字端容錯層救回。這正好證明前面幾頁講的容錯層是真的在扛事情。代價誠實講：中文 base 6.8s/句比原本慢，但中文版是備案、英文版才是展場主力（tiny.en 0.94s 很順）。英文數據為 TTS 合成音實測（5 腔調×20 句×3 噪音層），中文為 user 錄的真人音——TTS 是下限估計，評審追問據實說明。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★語音部署架構頁（回應「語音這塊怎麼部署」）。**2026-07-27 隨 ASR 換型改版**：原本這頁在講 Fun-ASR 的三元件架構（VAD＋Encoder＋Qwen3 解碼器，合計 910MB），換成 whisper.cpp 之後**架構反而更簡單**——單一模型檔、單一 binary。三張卡：①共用 runtime＝whisper-cli，一支 binary 內含端點偵測、聲學編碼、解碼，中英兩版只差 -m 參數指到哪顆模型，不必維護兩套框架。②英文版 ggml-tiny.en（74MB / 0.94s），展場主力。③中文版 ggml-base（141MB / 6.8s），多語權重含中文，備援展示。管線：前端錄 webm → ffmpeg 轉 16k mono → whisper-cli → OpenCC 轉繁（**只有中文版需要**，英文版已移除）→ 出口正規化（英文版做大小寫攤平、中文版做同音錯字修正）→ 交倉管 WS，全程本機無網路。值得一提的數字：**模型體積從 910MB 降到 215MB**，延遲英文從 2.5s 降到 0.94s——換掉來源不符的模型不但沒有犧牲，反而更輕更快。這頁證明語音不是掛個雲端 API，是真的把模型部署在邊緣裝置上離線跑。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★語音展場可行性的量化證據。三環境通過率 78/77/73%——關鍵訊息是「噪音幾乎不影響」（light −1%、heavy −5%）。方法上的巧思：真人只念一次、存下錄音，之後自動混噪重測，念一次測三種環境、對比公平。三大發現：噪音不是問題、音量才是關鍵變數、失敗幾乎全是 ASR 模型極限（訪客重講可解）。最終結論：現有硬體（webcam + 270M）＋正常音量就夠展場用，不用花錢升級。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語音容錯兩層設計，都是真人聲實測一句句磨出來的。刻意分工：左＝拼音容錯層（技術主角）——處理「沒見過的音近錯」，靠智慧比對而非查表：ASR 錯字多是「同音但字形差很遠」（滑鼠→華數），字形比對救不到、轉拼音就中；做了捲舌平舌音節還原（zu→zhu、su→shu）；用滑窗掃整句找商品核心名拼音；門檻 0.82（太低會把衛生棉誤配衛生紙）。右＝固定規則修正——處理「反覆出現的固定錯」（倉別/動詞/量詞/異體字），這種錯每次都一樣，直接查表最快最穩，不需要智慧比對。兩層都只掛 ASR 出口、不碰 warehouse.py，所以打字訪客零影響、守衛零風險。下一頁用流程圖把拼音層的五步決策拆開講。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★拼音修正流程圖（老闆/評審最有感的一頁）。左邊是決策流程，右邊用同一句「北倉的滑鼠有多少」一路走到底。核心洞見：ASR 錯字的特徵是「音同、字形零重疊」（華數 vs 滑鼠一個字都不重疊），所以字形比對一定失敗、轉成拼音一比即中。五步：①字形優先（命中就不進拼音層，零回歸的保證）②三道排除閘（含寫入動詞/倉別/數字的句子不救——這是當初打壞 63 條守衛後加的，只救乾淨短查詢詞）③轉拼音時做捲舌平舌音節還原（zu→zhu、su→shu，因為台灣國語與 ASR 常把滑鼠 huashu 聽成華族 huazu）④滑窗比對商品核心名拼音⑤門檻 0.82。門檻 0.82 是實測血淚調出來的——放寬到 0.78 會把「衛生棉」誤配「衛生紙」（同 0.80），所以不靠放門檻、靠精準音節還原來拉開分數。全程純字串運算，RPi5 零算力負擔。救不到就回空、交給系統反問，絕不亂猜。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★聽錯→救回實例頁（技術評審最有感）。強調這些全是真人聲實測原始紀錄、不是虛構：中欄紅字是 ASR 真的聽錯的字，右欄綠字是容錯層怎麼救回。最漂亮的一句「北倉進五十個滑鼠」一次踩三種錯（倉別藏→倉、動詞近→進、商品名華族→滑鼠），三種修正機制同時作用救回、真的把 50 件寫進庫存。底部拼音證據解釋原理：ASR 錯字特徵是「音同/音近但字形零重疊」，字形比對必敗、轉拼音一比即中——這就是為什麼發音容錯層有效。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★極限與對策頁（誠實加分）。技術評審最怕看到只報喜不報憂——這頁專講救不回的。左表：ASR 把整詞聽成毫不相干的詞（瑜珈墊→女藥店、露營帳篷→女人占房、滑鼠→瓦數、缺→趣、防蚊液→防瘟疫），字形和發音都對不上，容錯層本來就不該硬救。右邊對策核心＝人在迴路：前端即時顯示辨識文字，訪客看到明顯錯字會自然重講——這比硬編同音規則安全得多（亂編規則救個案會誤傷別句）。另外三點：音量才是主因（正常音量下大半 FAIL 會消失）、展後靠 journal 問答記錄做回饋閉環補規則。分寸金句：救得到的自動救、救不到的交給人重講，絕不亂猜幻覺出錯商品——這正是整個系統『寧可反問、不可答錯』哲學在語音上的延伸。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★英文版路線決策頁。老闆要全英文版，我沒有直接開始翻譯——先用探針餵分級英文句給現有的中文微調模型，量出「純翻譯路線」會壞在哪。結果很清楚：乾淨查詢答得對（Gemma 的英文底子還在），但**招牌能力全滅**——英文錯字、模糊描述、寫入/調貨/RCA 意圖全部救不到。而容錯層正是這個 demo 的賣點，翻譯層先崩就輪不到後面，等於做出一個「白費版」。所以路線選**補英文語料微調**：不必全部重訓（base 英文能力本來就在），但要教它這套系統的 tool 慣例。右下三方對照是實測數字：base 未微調只有 11%（看得懂英文、不知道叫哪個 tool）；有趣的是**中文微調版跑英文有 32%**——證明 tool 慣例會跨語言遷移，用中文學的可以套到英文，這是微調買到的『領域判斷』而不只是語言；英文專訓版 73%。這頁的重點是：**決策有數據支撐，不是拍腦袋選路線**。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★這頁是給技術評審看的「移植的真實成本」。一般人以為做英文版＝翻譯 UI + 換模型，實際上**真正的工作量在散落各處的語言假設**——三個月為中文磨出來的規則層，每一條都藏著隱含假設。列五個最有代表性的（共歸納 19 類）：①21 個詞表全中文，英文句一個都不命中，被判成「只有商品名沒動作」全部轉 clarify。②更隱形的一類：對照表的**鍵**是中文（值反而是英文 slug），6 個類別 5 個查不到，而系統的導覽訊息還在教訪客這樣問。③門檻用中文字元數：英文字元數是中文 2-3 倍，'alert me when earphones drop below 30' 才 7 個詞卻 31 字元，正常句被當長句。④最危險的一類——**演算法本身假設中文形態**：用 split()[0] 剝規格尾巴，中文沒空白所以取第一段＝取全名，英文商品名全用空白分隔，`Wireless Mouse` 被腰斬成 `Wireless`，下一句追問就改到耳機的安全庫存＝**寫錯資料**。這種 bug 讀程式碼很難看出來（邏輯本身沒錯），只有跨句對話測試會暴露。⑤英文獨有的：英文化產生的撇號沒跳脫，整份 JS 語法錯誤停擺，但 HTML/CSS 照常渲染——畫面看起來正常、實際 WebSocket 從沒建立過。中文版永遠不會有這個 bug（中文沒撇號）。方法論：**逐句追 log 看實際執行路徑**，不要從症狀猜成因。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★英文版收斂成果頁。重點一：英文守衛庫是**重新建的 892 句**，不是把中文守衛翻譯過來——中文守衛大量測注音、同音字，英文沒有對應物；英文有自己的邊界（錯字型態、俗稱別名、英文閒聊搗蛋）。重點二：收斂曲線 651→873→891→892，每次跳動都是一批結構性 bug 被找出來，不是慢慢磨上去的。左下角這個教訓值得講：過程中**兩次**把『試過一種做法沒成功』寫成『這類問題無解』——第一次是 19 句雙錯字長尾，後來拆解發現是 8 個獨立的結構性 bug；第二次是最後那一句 `do we have scks`，記錄成『需要英文詞典依賴、救不了』，實際上樹莓派系統**內建**英文詞典，而且真正的成因根本不是字元相似度，是被守門員擋在門外。訊號一直都在，只是沒接上。右下角：守衛全綠≠畫面對，改用截圖逐一看過 25 個 view，抓到 JSON 看不到的破口——最典型的是卡片上明明寫著『To remove, say delete AL001』，訪客照打卻回『查無此商品』。最後一行：中英雙版在同一台樹莓派上並存，開機都自啟，訪客點瀏覽器分頁就能切語言。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總結五張卡：價值、技術、品質、語音、雙語。收尾一句下一步。整份簡報的主軸——用最小的模型、最便宜的硬體，做到可以用數字證明的品質。品質那張卡的兩個數字要記熟：中文守衛 1122 句雙平台 100%、英文守衛 892 句 100%。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16002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邊緣 AI 應用展示 · 晶片團隊軟體成果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057400"/>
            <a:ext cx="10789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FFFFFF"/>
                </a:solidFill>
                <a:latin typeface="Microsoft JhengHei"/>
              </a:rPr>
              <a:t>倉管 Agent v2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306324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BBBBBB"/>
                </a:solidFill>
                <a:latin typeface="Microsoft JhengHei"/>
              </a:rPr>
              <a:t>一句自然語言 → 一秒拿到正確答案，全程在一台 Raspberry Pi 上跑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270M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邊緣級小模型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5643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100+ 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643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品質收斂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4535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535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雙平台回歸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77777"/>
                </a:solidFill>
                <a:latin typeface="Arial"/>
              </a:rPr>
              <a:t>FunctionGemma 270M 微調模型 × 多層校正架構 × RPi5 CPU 部署 → 下一步接自研晶片加速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倉管人員要的，不是又一套要學的系統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55448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1783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444444"/>
                </a:solidFill>
                <a:latin typeface="Microsoft JhengHei"/>
              </a:rPr>
              <a:t>傳統倉管系統</a:t>
            </a:r>
          </a:p>
        </p:txBody>
      </p:sp>
      <p:sp>
        <p:nvSpPr>
          <p:cNvPr id="6" name="Oval 5"/>
          <p:cNvSpPr/>
          <p:nvPr/>
        </p:nvSpPr>
        <p:spPr>
          <a:xfrm>
            <a:off x="987552" y="242316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4094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81912" y="248716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要記選單在哪、欄位怎麼填</a:t>
            </a:r>
          </a:p>
        </p:txBody>
      </p:sp>
      <p:sp>
        <p:nvSpPr>
          <p:cNvPr id="9" name="Oval 8"/>
          <p:cNvSpPr/>
          <p:nvPr/>
        </p:nvSpPr>
        <p:spPr>
          <a:xfrm>
            <a:off x="987552" y="320040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31866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32644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查個庫存點五六層才到</a:t>
            </a:r>
          </a:p>
        </p:txBody>
      </p:sp>
      <p:sp>
        <p:nvSpPr>
          <p:cNvPr id="12" name="Oval 11"/>
          <p:cNvSpPr/>
          <p:nvPr/>
        </p:nvSpPr>
        <p:spPr>
          <a:xfrm>
            <a:off x="987552" y="397764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9639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404164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現場拿手機打字，介面難用</a:t>
            </a:r>
          </a:p>
        </p:txBody>
      </p:sp>
      <p:sp>
        <p:nvSpPr>
          <p:cNvPr id="15" name="Oval 14"/>
          <p:cNvSpPr/>
          <p:nvPr/>
        </p:nvSpPr>
        <p:spPr>
          <a:xfrm>
            <a:off x="987552" y="475488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741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$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481888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客製一次動輒數十萬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55448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1783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Microsoft JhengHei"/>
              </a:rPr>
              <a:t>倉管 Agent v2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0" y="242316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24094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248716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直接用講的：「藍牙耳機還剩幾個」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0" y="320040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31866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32644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一句話一秒回答，免選單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0" y="397764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39639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404164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掃 QR 手機就能問，展場離線也行</a:t>
            </a:r>
          </a:p>
        </p:txBody>
      </p:sp>
      <p:sp>
        <p:nvSpPr>
          <p:cNvPr id="29" name="Oval 28"/>
          <p:cNvSpPr/>
          <p:nvPr/>
        </p:nvSpPr>
        <p:spPr>
          <a:xfrm>
            <a:off x="6583680" y="475488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4741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Pi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78040" y="481888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一台樹莓派跑得動，硬體成本極低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WHAT IT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訪客能問什麼：七大查詢 + 三類進階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庫存查詢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商品 / 倉庫 / 類別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0215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75818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5818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5818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進出紀錄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5818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今天 / 本週 / 本月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3679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9282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282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282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缺貨警示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282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撐幾天 + 建議補多少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7143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2746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2746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2746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倉庫比較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2746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任兩倉對比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2354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熱銷排行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期間 / 類別 TOP 10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0215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75818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5818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5818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到期預警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5818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N 天內即將過期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3679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59282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9282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9282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相關推薦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9282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購物籃搭售分析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7143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427464" y="3941064"/>
            <a:ext cx="658368" cy="65836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2746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2746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Agent 進階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2746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根因分析 / 補貨 / 排程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HOW IT FEELS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訪客怎麼問，系統怎麼答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45920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" y="192024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9065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72184" y="1755648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藍牙耳機還剩幾個</a:t>
            </a:r>
          </a:p>
        </p:txBody>
      </p:sp>
      <p:sp>
        <p:nvSpPr>
          <p:cNvPr id="8" name="Chevron 7"/>
          <p:cNvSpPr/>
          <p:nvPr/>
        </p:nvSpPr>
        <p:spPr>
          <a:xfrm>
            <a:off x="5166360" y="1947672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0" y="1645920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080760" y="1920240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9065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55648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三倉共 227 件（北 141 / 中 42 / 南 44）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2779776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3544" y="3054096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72184" y="2889504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哪些快沒貨了</a:t>
            </a:r>
          </a:p>
        </p:txBody>
      </p:sp>
      <p:sp>
        <p:nvSpPr>
          <p:cNvPr id="17" name="Chevron 16"/>
          <p:cNvSpPr/>
          <p:nvPr/>
        </p:nvSpPr>
        <p:spPr>
          <a:xfrm>
            <a:off x="5166360" y="3081528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852160" y="2779776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080760" y="3054096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076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2889504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42 項低於安全庫存，最急：藍牙喇叭剩 15 件、12 天斷貨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3913632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3544" y="418795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" y="41742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72184" y="4023360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北倉進 50 個滑鼠</a:t>
            </a:r>
          </a:p>
        </p:txBody>
      </p:sp>
      <p:sp>
        <p:nvSpPr>
          <p:cNvPr id="26" name="Chevron 25"/>
          <p:cNvSpPr/>
          <p:nvPr/>
        </p:nvSpPr>
        <p:spPr>
          <a:xfrm>
            <a:off x="5166360" y="4215384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852160" y="3913632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080760" y="4187952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80760" y="41742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4023360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跳出確認卡 → 按鈕確認才寫入庫存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7512" y="5047488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23544" y="532180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544" y="530809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72184" y="5157216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電動牙刷的帳怎麼兜不起來</a:t>
            </a:r>
          </a:p>
        </p:txBody>
      </p:sp>
      <p:sp>
        <p:nvSpPr>
          <p:cNvPr id="35" name="Chevron 34"/>
          <p:cNvSpPr/>
          <p:nvPr/>
        </p:nvSpPr>
        <p:spPr>
          <a:xfrm>
            <a:off x="5166360" y="5349240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852160" y="5047488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080760" y="5321808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80760" y="530809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5157216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自動查 PO → 找到短收 → 建議聯絡供應商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AGENT · 三層自動化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不是查詢介面，是會自己做事的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感知 → 推理 → 行動，業界對 AI Agent 的三個標準能力，本系統三層都真的實作、都在背景跑。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210312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感知 · PERCEIVE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54203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系統自己盯，不用人問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86200" y="182880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114800" y="2084832"/>
            <a:ext cx="310896" cy="310896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0" y="20711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09397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缺貨警示：背景每小時掃描，低於安全庫存主動推播</a:t>
            </a:r>
          </a:p>
        </p:txBody>
      </p:sp>
      <p:sp>
        <p:nvSpPr>
          <p:cNvPr id="12" name="Oval 11"/>
          <p:cNvSpPr/>
          <p:nvPr/>
        </p:nvSpPr>
        <p:spPr>
          <a:xfrm>
            <a:off x="4114800" y="2596896"/>
            <a:ext cx="310896" cy="310896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0" y="25831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260604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到期預警：自動追蹤保存期限，N 天內主動提醒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" y="329184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" y="356616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推理 · REASON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" y="400507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系統自己判斷該怎麼辦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6200" y="329184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14800" y="354787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0" y="35341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3712" y="355701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根因分析：帳兜不攏 → 自動掃 PO → 找短收 → 給建議（3 步推理）</a:t>
            </a:r>
          </a:p>
        </p:txBody>
      </p:sp>
      <p:sp>
        <p:nvSpPr>
          <p:cNvPr id="22" name="Oval 21"/>
          <p:cNvSpPr/>
          <p:nvPr/>
        </p:nvSpPr>
        <p:spPr>
          <a:xfrm>
            <a:off x="4114800" y="4059936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0" y="40462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406908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自動補貨：算出撐幾天、該補多少，產採購單草稿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" y="475488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02920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行動 · ACT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546811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系統自己動手做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86200" y="475488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114800" y="501091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0" y="49971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3712" y="502005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定時排程：「每天 8 點跑盤點」背景每分鐘檢查、到點自動執行</a:t>
            </a:r>
          </a:p>
        </p:txBody>
      </p:sp>
      <p:sp>
        <p:nvSpPr>
          <p:cNvPr id="32" name="Oval 31"/>
          <p:cNvSpPr/>
          <p:nvPr/>
        </p:nvSpPr>
        <p:spPr>
          <a:xfrm>
            <a:off x="4114800" y="5522976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0" y="550926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553212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一句話改庫存：自然語言 → 抽參數 → 執行（10 種 HITL 確認把關）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SIGNATURE · OOV 容錯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訪客怎麼亂打，系統照樣聽懂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展場訪客不會照規矩打字——錯字、注音殘字、講一半、中英夾雜、講俗稱。270M 小模型 + 多層容錯，照樣抓對商品。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錯字 / 同音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「藍芽耳機」「汽泡水」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「悶燒灌」「瑜加墊」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自動修正抓對商品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講一半 / 不完整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「那個充電的」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「洗衣的那個精」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補全成完整商品名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27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注音殘字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13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「安全ㄎ存多少」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「那ㄍ快到期嗎」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注音還原成國字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中英夾雜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「藍牙 earphone 庫存」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「coffee 豆剩多少」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中英混打照抓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51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537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語序顛倒 / 口語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「庫存藍牙耳機」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「剩多少氣泡水啊」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不管詞序都懂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827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13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俗稱 / 別名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13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「充手機的寶」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「做瑜伽的墊子」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對應到正式品名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HOW · 多層容錯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小模型抓不準？多層防線把它接住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270M 抽出的 keyword 常常髒、殘、錯。四層 fallback 逐層修，抓不到才反問——絕不亂猜、絕不幻覺出錯的商品。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749808" cy="93268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874519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54480" y="1874519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199339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222A45"/>
                </a:solidFill>
                <a:latin typeface="Microsoft JhengHei"/>
              </a:rPr>
              <a:t>雜詞剝除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377439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剝掉倉庫名 / 量詞 / 語氣詞 / 功能詞尾巴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993391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北倉的藍芽耳機還有幾個  →  藍芽耳機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953511"/>
            <a:ext cx="749808" cy="93268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953511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54480" y="2953511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83080" y="307238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008E76"/>
                </a:solidFill>
                <a:latin typeface="Microsoft JhengHei"/>
              </a:rPr>
              <a:t>精確 / 錯字修復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45643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同音錯字表 + 注音還原，換成正確品名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072383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藍芽耳機  →  無線藍牙耳機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032503"/>
            <a:ext cx="749808" cy="93268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4032503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54480" y="4032503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83080" y="4151375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00C49A"/>
                </a:solidFill>
                <a:latin typeface="Microsoft JhengHei"/>
              </a:rPr>
              <a:t>模糊比對 fuzzy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453542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剝規格 + 雙向滑窗 + 字元重疊，容忍變體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4151375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充手機的寶  →  行動電源 10000mAh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" y="5111495"/>
            <a:ext cx="749808" cy="932688"/>
          </a:xfrm>
          <a:prstGeom prst="roundRect">
            <a:avLst>
              <a:gd name="adj" fmla="val 8000"/>
            </a:avLst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5111495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54480" y="5111495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83080" y="5230367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F0A030"/>
                </a:solidFill>
                <a:latin typeface="Microsoft JhengHei"/>
              </a:rPr>
              <a:t>抓不到就反問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83080" y="5614415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列疑似商品請選，附庫存概況，絕不亂猜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5230367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帽子  →  你是指遮陽帽還是毛帽？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小模型只做路由，業務邏輯交給伺服器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設計理念：270M 小模型負責「意圖分類」，Server 端負責精確計算與業務規則——讓 LLM 只做它擅長的事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82880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語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1828800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191109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44444"/>
                </a:solidFill>
                <a:latin typeface="Arial"/>
              </a:rPr>
              <a:t>使用者輸入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1911096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口語自然語言（含錯字 / 注音 / 英文俗稱）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45059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615184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615184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63040" y="2615184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37360" y="269748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Arial"/>
              </a:rPr>
              <a:t>Query Rewriting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697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50+ 條規則（6 大類）把口語 → 標準句型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23697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3401568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01568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3401568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37360" y="3483864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Arial"/>
              </a:rPr>
              <a:t>intent_clf 主路由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483864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FastText 14 類意圖分類，先決定用哪個功能（98.9% 準，下頁詳介）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40233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" y="4187952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4187952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63040" y="4187952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37360" y="4270248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Arial"/>
              </a:rPr>
              <a:t>FunctionGemma 270M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27024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小模型只抽參數：商品 / 倉庫 / 時間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480974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" y="4974336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497433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63040" y="4974336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37360" y="5056632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Arial"/>
              </a:rPr>
              <a:t>dispatch + 校正層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5056632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C0–C18 規則層：最後防線，擋幻覺、補接地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559612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7512" y="576072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" y="576072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463040" y="5760720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37360" y="584301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Arial"/>
              </a:rPr>
              <a:t>業務工具執行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80" y="5843016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查詢 / 庫存異動 / 根因分析 / 排程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THE QUIET HERO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小主角 FastText：路由交給穩的，生成交給會的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14 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自定義意圖標籤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0.5GB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intent_clf.bin 模型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98.9%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路由準確率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毫秒級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CPU 路由延遲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2724912"/>
            <a:ext cx="5989320" cy="34015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2926080"/>
            <a:ext cx="5303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為什麼主路由不是 270M，是它</a:t>
            </a:r>
          </a:p>
        </p:txBody>
      </p:sp>
      <p:sp>
        <p:nvSpPr>
          <p:cNvPr id="18" name="Oval 17"/>
          <p:cNvSpPr/>
          <p:nvPr/>
        </p:nvSpPr>
        <p:spPr>
          <a:xfrm>
            <a:off x="987552" y="345643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" y="344271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36192" y="3383280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先分類、再生成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36192" y="3675888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每句先由 FastText 判斷「做什麼」，高信心直接跳過 LLM——實測過半句子根本不勞 270M 出手，一句回答快在這裡</a:t>
            </a:r>
          </a:p>
        </p:txBody>
      </p:sp>
      <p:sp>
        <p:nvSpPr>
          <p:cNvPr id="22" name="Oval 21"/>
          <p:cNvSpPr/>
          <p:nvPr/>
        </p:nvSpPr>
        <p:spPr>
          <a:xfrm>
            <a:off x="987552" y="431596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30225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36192" y="424281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確定性路由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36192" y="4535424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向量比對、同句永遠同答案，沒有 LLM 的浮點抖動——雙平台（WIN11 / RPi5）行為一致的基石</a:t>
            </a:r>
          </a:p>
        </p:txBody>
      </p:sp>
      <p:sp>
        <p:nvSpPr>
          <p:cNvPr id="26" name="Oval 25"/>
          <p:cNvSpPr/>
          <p:nvPr/>
        </p:nvSpPr>
        <p:spPr>
          <a:xfrm>
            <a:off x="987552" y="5175504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16178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36192" y="5102352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從零訓練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36192" y="5394960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FastText 出廠不帶任何類別（它是演算法不是現成模型）；14 類依倉管工具集自定義，語料與 LLM 微調同源、判斷口徑一致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31152" y="2724912"/>
            <a:ext cx="4590288" cy="340156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0" y="2926080"/>
            <a:ext cx="40050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14 類意圖一覽（標籤名＝工具名）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3438144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查詢 × 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730752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庫存 / 進出 / 缺貨 / 熱銷 / 連帶 / 比倉 / 比期間 / 清單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4206240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鑑識 × 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3760" y="4498848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查帳追根因（search_log 自動比對進出差異）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4974336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控制 ×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0" y="5266944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改設定 / 警示 / 採購單 / 報表 / 白名單腳本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0" y="5724144"/>
            <a:ext cx="400507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分類結果直接就是要呼叫的功能——沒有中間翻譯層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WHY SO SMALL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270M：故意選小，不是能力不足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270M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本專案模型參數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3-8B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業界主流 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~30 t/s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RPi5 CPU 推論速度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0 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雲端 API 費用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063240"/>
            <a:ext cx="10853928" cy="3017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2" y="329184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8E76"/>
                </a:solidFill>
                <a:latin typeface="Microsoft JhengHei"/>
              </a:rPr>
              <a:t>小模型的三個好處</a:t>
            </a:r>
          </a:p>
        </p:txBody>
      </p:sp>
      <p:sp>
        <p:nvSpPr>
          <p:cNvPr id="18" name="Oval 17"/>
          <p:cNvSpPr/>
          <p:nvPr/>
        </p:nvSpPr>
        <p:spPr>
          <a:xfrm>
            <a:off x="1033272" y="381304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79933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877056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成本極低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36392" y="3877056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跑在一台樹莓派 CPU 上，不需 GPU、不付雲端 API 費用</a:t>
            </a:r>
          </a:p>
        </p:txBody>
      </p:sp>
      <p:sp>
        <p:nvSpPr>
          <p:cNvPr id="22" name="Oval 21"/>
          <p:cNvSpPr/>
          <p:nvPr/>
        </p:nvSpPr>
        <p:spPr>
          <a:xfrm>
            <a:off x="1033272" y="452628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3272" y="45125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81912" y="4590288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離線可用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36392" y="4590288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展場用手機熱點就能跑，不依賴網路，資料不出場</a:t>
            </a:r>
          </a:p>
        </p:txBody>
      </p:sp>
      <p:sp>
        <p:nvSpPr>
          <p:cNvPr id="26" name="Oval 25"/>
          <p:cNvSpPr/>
          <p:nvPr/>
        </p:nvSpPr>
        <p:spPr>
          <a:xfrm>
            <a:off x="1033272" y="523951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3272" y="522579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81912" y="530352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定位精準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36392" y="530352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270M 當「路由器」而非「決策者」——分類意圖它綽綽有餘，精確計算交給規則層，反而更穩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219456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Arial"/>
              </a:rPr>
              <a:t>TESTING PHILOSOPHY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651760"/>
            <a:ext cx="10789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展場訪客會亂打字，</a:t>
            </a:r>
          </a:p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所以我們先自己把它打壞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420624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BBBBBB"/>
                </a:solidFill>
                <a:latin typeface="Microsoft JhengHei"/>
              </a:rPr>
              <a:t>小模型的先天限制是輸出不穩定。與其祈禱它不出錯，不如用大量真實情境反覆攻擊，把每個破口修掉、再存成回歸測試，確保永不重犯。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SIX TEST SUITES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六套回歸測試，全部雙平台 100%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63040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" y="161848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81912" y="1508760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守衛庫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33672" y="1508760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1122 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62472" y="1508760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每次修 bug 都存成守衛，防止回退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2368296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523744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50545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2414016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短句全枚舉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33672" y="2414016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953 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62472" y="2414016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60 商品 × 模板全展開，證明短句 100%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273552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429000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41071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81912" y="3319272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多輪對話全枚舉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33672" y="3319272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1980 情境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62472" y="3319272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首句 + 追問，證明「記得上一個商品」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4178808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68680" y="4334256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31596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224528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未知商品抗性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33672" y="4224528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60+ 情境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62472" y="4224528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新增商品後查、問不存在的、撞名、亂取名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7512" y="5084064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68680" y="5239512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2212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81912" y="5129784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81 題標準集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33672" y="5129784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99%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62472" y="5129784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路由準確率基準測試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7512" y="5989320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68680" y="614476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612648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語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81912" y="6035040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OOV 口語集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33672" y="6035040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62472" y="6035040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沒見過的口語 / 錯字容錯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EXHAUSTIVE SWEEP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怎麼證明「多輪對話」不會出錯？把它數出來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32588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隨機測試永遠測不完，只是「抽樣」。真正的保證來自「窮舉」——把整個空間定義成可以數的組合，全部跑一遍。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2194560"/>
            <a:ext cx="10853928" cy="13716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3957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C49A"/>
                </a:solidFill>
                <a:latin typeface="Microsoft JhengHei"/>
              </a:rPr>
              <a:t>多輪短句空間 = 可窮舉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278892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60 </a:t>
            </a:r>
            <a:r>
              <a:rPr sz="1800" b="0">
                <a:solidFill>
                  <a:srgbClr val="BBBBBB"/>
                </a:solidFill>
                <a:latin typeface="Microsoft JhengHei"/>
              </a:rPr>
              <a:t>商品   ×   </a:t>
            </a:r>
            <a:r>
              <a:rPr sz="2600" b="1">
                <a:solidFill>
                  <a:srgbClr val="FFFFFF"/>
                </a:solidFill>
                <a:latin typeface="Arial"/>
              </a:rPr>
              <a:t>33 </a:t>
            </a:r>
            <a:r>
              <a:rPr sz="1800" b="0">
                <a:solidFill>
                  <a:srgbClr val="BBBBBB"/>
                </a:solidFill>
                <a:latin typeface="Microsoft JhengHei"/>
              </a:rPr>
              <a:t>種追問形   =   </a:t>
            </a:r>
            <a:r>
              <a:rPr sz="2600" b="1">
                <a:solidFill>
                  <a:srgbClr val="00C49A"/>
                </a:solidFill>
                <a:latin typeface="Arial"/>
              </a:rPr>
              <a:t>1980 </a:t>
            </a:r>
            <a:r>
              <a:rPr sz="1800" b="0">
                <a:solidFill>
                  <a:srgbClr val="FFFFFF"/>
                </a:solidFill>
                <a:latin typeface="Microsoft JhengHei"/>
              </a:rPr>
              <a:t>個兩輪對話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3886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Microsoft JhengHei"/>
              </a:rPr>
              <a:t>33 種追問形 = 從實測 bug 反推的六大族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代詞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1952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那個呢 / 它還剩幾個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6824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功能詞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41264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進出 / 到期 / 多少錢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46136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29016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倉別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0576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南倉呢 / 北倉多少 / 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語助詞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01952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呢 / 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06824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寫入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41264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北倉進 20 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46136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9016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錯字注音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0576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那個近出紀錄呢 / 安全ㄎ存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SWEEP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全枚舉抓出隨機測試漏掉的破口，一次修光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9164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3272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Microsoft JhengHei"/>
              </a:rPr>
              <a:t>隨機採樣（4 輪）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" y="233172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777777"/>
                </a:solidFill>
                <a:latin typeface="Arial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62072" y="2697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個 bug / 102 情境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77777"/>
                </a:solidFill>
                <a:latin typeface="Microsoft JhengHei"/>
              </a:rPr>
              <a:t>只看到冰山一角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9164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全枚舉（1 次）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33172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008E76"/>
                </a:solidFill>
                <a:latin typeface="Arial"/>
              </a:rPr>
              <a:t>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697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08E76"/>
                </a:solidFill>
                <a:latin typeface="Microsoft JhengHei"/>
              </a:rPr>
              <a:t>個 bug / 1980 情境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8E76"/>
                </a:solidFill>
                <a:latin typeface="Microsoft JhengHei"/>
              </a:rPr>
              <a:t>通過率 98.5%，破口全面現形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4069080"/>
            <a:ext cx="10853928" cy="192024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427939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29 個破口 → 兩個根因 → 兩處修補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" y="4754880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28 個  </a:t>
            </a:r>
            <a:r>
              <a:rPr sz="1350" b="0">
                <a:solidFill>
                  <a:srgbClr val="BBBBBB"/>
                </a:solidFill>
                <a:latin typeface="Microsoft JhengHei"/>
              </a:rPr>
              <a:t>共用字的商品（USB風扇 / 素T…）進出查詢把別的品項也算進去 → 加分數門檻，一修全清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5285232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1 個   </a:t>
            </a:r>
            <a:r>
              <a:rPr sz="1350" b="0">
                <a:solidFill>
                  <a:srgbClr val="BBBBBB"/>
                </a:solidFill>
                <a:latin typeface="Microsoft JhengHei"/>
              </a:rPr>
              <a:t>「清潔手套」的「清潔」被誤當類別詞 → 商品名優先，讓給完整比對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" y="574243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77777"/>
                </a:solidFill>
                <a:latin typeface="Microsoft JhengHei"/>
              </a:rPr>
              <a:t>關鍵發現：這些其實是「單句就會錯」的 bug，只是舊測試沒涵蓋到這幾個商品的這個功能組合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CONVERGENCE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100+ 輪迭代，守衛庫從 138 句長到 1122 句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67512" y="1600200"/>
          <a:ext cx="557784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92240" y="1600200"/>
            <a:ext cx="5029200" cy="3291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0" y="18105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Microsoft JhengHei"/>
              </a:rPr>
              <a:t>多輪真 bug 軌跡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228600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r32→r35：</a:t>
            </a:r>
            <a:r>
              <a:rPr sz="2000" b="1">
                <a:solidFill>
                  <a:srgbClr val="F0A030"/>
                </a:solidFill>
                <a:latin typeface="Arial"/>
              </a:rPr>
              <a:t>  6 → 7 → 6 →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88036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四輪隨機測試沒收斂——每輪只看到不同角落。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這反而證明：光靠隨機測不夠，必須全枚舉。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3977639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全枚舉修完：</a:t>
            </a:r>
            <a:r>
              <a:rPr sz="1500" b="1">
                <a:solidFill>
                  <a:srgbClr val="008E76"/>
                </a:solidFill>
                <a:latin typeface="Microsoft JhengHei"/>
              </a:rPr>
              <a:t>  1980 / 1980 全綠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5212080"/>
            <a:ext cx="10853928" cy="86868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5394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8E76"/>
                </a:solidFill>
                <a:latin typeface="Microsoft JhengHei"/>
              </a:rPr>
              <a:t>每修一個 bug 就存一句守衛 → 882 句形成防護網，任何改動只要跑回歸就知道有沒有踩壞舊功能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REAL HARDWARE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不是實驗室數字：樹莓派上真的扛得住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33 hr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連續運行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1600+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次推論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44°C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溫度穩定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~30 t/s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速度零衰減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108960"/>
            <a:ext cx="5257800" cy="28346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3375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雙平台驗收原則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3840480"/>
            <a:ext cx="457200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本機（Windows）快速迭代，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樹莓派（RPi5 CPU）最終驗收。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單向規則：樹莓派過 = 過。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首次上機就抓到本機測不出的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平台精度差異句。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108960"/>
            <a:ext cx="5257800" cy="283464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3375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C49A"/>
                </a:solidFill>
                <a:latin typeface="Microsoft JhengHei"/>
              </a:rPr>
              <a:t>展場穩定性設計</a:t>
            </a:r>
          </a:p>
        </p:txBody>
      </p:sp>
      <p:sp>
        <p:nvSpPr>
          <p:cNvPr id="21" name="Oval 20"/>
          <p:cNvSpPr/>
          <p:nvPr/>
        </p:nvSpPr>
        <p:spPr>
          <a:xfrm>
            <a:off x="6583680" y="3840480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3826764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9168" y="3858768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離線手機熱點運行，資料不出場</a:t>
            </a:r>
          </a:p>
        </p:txBody>
      </p:sp>
      <p:sp>
        <p:nvSpPr>
          <p:cNvPr id="24" name="Oval 23"/>
          <p:cNvSpPr/>
          <p:nvPr/>
        </p:nvSpPr>
        <p:spPr>
          <a:xfrm>
            <a:off x="6583680" y="4352544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4338828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59168" y="4370832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Wi-Fi 掉線自癒 watchdog（10 秒自檢）</a:t>
            </a:r>
          </a:p>
        </p:txBody>
      </p:sp>
      <p:sp>
        <p:nvSpPr>
          <p:cNvPr id="27" name="Oval 26"/>
          <p:cNvSpPr/>
          <p:nvPr/>
        </p:nvSpPr>
        <p:spPr>
          <a:xfrm>
            <a:off x="6583680" y="4864608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850892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9168" y="4882896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一鍵重置回乾淨快照，玩壞也回得來</a:t>
            </a:r>
          </a:p>
        </p:txBody>
      </p:sp>
      <p:sp>
        <p:nvSpPr>
          <p:cNvPr id="30" name="Oval 29"/>
          <p:cNvSpPr/>
          <p:nvPr/>
        </p:nvSpPr>
        <p:spPr>
          <a:xfrm>
            <a:off x="6583680" y="5376672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5362956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59168" y="5394960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寫入操作二次確認，防誤觸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ROADMAP · 硬體路線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軟體已就緒，就等算力放大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同一套軟體架構，換上更強的算力就能跑更大的模型——這正是晶片團隊的下一步。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20240"/>
            <a:ext cx="5074920" cy="35661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4884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現在 · 已實測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5603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RPi5 CPU（純軟體）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200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93392" y="32004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FunctionGemma 270M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7307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速度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2" y="373075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~30 tokens/s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26110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品質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93392" y="426110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六套回歸雙平台 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7914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成本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93392" y="479145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一台樹莓派，無 GPU / 無雲端</a:t>
            </a:r>
          </a:p>
        </p:txBody>
      </p:sp>
      <p:sp>
        <p:nvSpPr>
          <p:cNvPr id="16" name="Chevron 15"/>
          <p:cNvSpPr/>
          <p:nvPr/>
        </p:nvSpPr>
        <p:spPr>
          <a:xfrm>
            <a:off x="5897880" y="3429000"/>
            <a:ext cx="566928" cy="45720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29400" y="1920240"/>
            <a:ext cx="489204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0" y="214884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C49A"/>
                </a:solidFill>
                <a:latin typeface="Microsoft JhengHei"/>
              </a:rPr>
              <a:t>下一階段 · Roadmap 目標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560320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RPi5 + 自研晶片加速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200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模型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0" y="32004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跳階到 3B / 7B 更大 LLM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7307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能力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80" y="373075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從「查詢路由」→ 真正的推理對話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426110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架構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426110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軟體不動，換算力即可放大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47914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狀態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80" y="479145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晶片開發中，應用已備妥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580644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關鍵訊息：連純 CPU 都已跑出生產級品質——軟體、測試、落地全部就緒，就等自研晶片把天花板拉高。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全離線語音輸入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訪客用「講的」查倉管，ASR 全程跑在樹莓派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打字對展場訪客不夠自然——加一層離線語音輸入，同一套倉管後端不動，語音只是新入口。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993391"/>
            <a:ext cx="457200" cy="45720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97510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🎙️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1929383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前端錄音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0832" y="1929383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Siri 式：點一下 → 講 → 靜音自動結束（瀏覽器 VAD 偵測）</a:t>
            </a:r>
          </a:p>
        </p:txBody>
      </p:sp>
      <p:sp>
        <p:nvSpPr>
          <p:cNvPr id="10" name="Chevron 9"/>
          <p:cNvSpPr/>
          <p:nvPr/>
        </p:nvSpPr>
        <p:spPr>
          <a:xfrm>
            <a:off x="5943600" y="2587751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" y="2734055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23544" y="2852927"/>
            <a:ext cx="457200" cy="457200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83463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7632" y="2788919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whisper.cpp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0832" y="2788919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OpenAI whisper，RPi5 CPU 純離線辨識（英文 0.94s / 句）</a:t>
            </a:r>
          </a:p>
        </p:txBody>
      </p:sp>
      <p:sp>
        <p:nvSpPr>
          <p:cNvPr id="16" name="Chevron 15"/>
          <p:cNvSpPr/>
          <p:nvPr/>
        </p:nvSpPr>
        <p:spPr>
          <a:xfrm>
            <a:off x="5943600" y="3447287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" y="3593591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3544" y="3712463"/>
            <a:ext cx="457200" cy="457200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694175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27632" y="3648455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Microsoft JhengHei"/>
              </a:rPr>
              <a:t>OpenCC 轉繁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0832" y="3648455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簡體 → 繁體，順便轉台灣用語（僅中文版需要）</a:t>
            </a:r>
          </a:p>
        </p:txBody>
      </p:sp>
      <p:sp>
        <p:nvSpPr>
          <p:cNvPr id="22" name="Chevron 21"/>
          <p:cNvSpPr/>
          <p:nvPr/>
        </p:nvSpPr>
        <p:spPr>
          <a:xfrm>
            <a:off x="5943600" y="4306823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7512" y="4453127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23544" y="4571999"/>
            <a:ext cx="457200" cy="457200"/>
          </a:xfrm>
          <a:prstGeom prst="ellipse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" y="4553711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27632" y="4507991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同音修正層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70832" y="4507991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倉別 / 動詞 / 量詞 / 異體字——只掛 ASR 出口，不碰倉管核心</a:t>
            </a:r>
          </a:p>
        </p:txBody>
      </p:sp>
      <p:sp>
        <p:nvSpPr>
          <p:cNvPr id="28" name="Chevron 27"/>
          <p:cNvSpPr/>
          <p:nvPr/>
        </p:nvSpPr>
        <p:spPr>
          <a:xfrm>
            <a:off x="5943600" y="5166359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67512" y="5312663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23544" y="5431535"/>
            <a:ext cx="457200" cy="457200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" y="5413247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27632" y="5367527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倉管 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70832" y="5367527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既有守衛庫 + 發音容錯層接手，回答與打字完全一致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選型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全面改用歐美模型：中英各選最適尺寸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選型鐵律：① 供應鏈來源可控（歐美模型）② RPi5 CPU 純離線跑 ③ 中英共用同一套 whisper.cpp runtime。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10853928" cy="4572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65376"/>
            <a:ext cx="1874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8648" y="1865376"/>
            <a:ext cx="11430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體積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87367" y="1865376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語言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41848" y="1865376"/>
            <a:ext cx="169163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RPi5 延遲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79208" y="1865376"/>
            <a:ext cx="1874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實測準確度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99448" y="1865376"/>
            <a:ext cx="2148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本專案判定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2240280"/>
            <a:ext cx="10853928" cy="621792"/>
          </a:xfrm>
          <a:prstGeom prst="rect">
            <a:avLst/>
          </a:prstGeom>
          <a:solidFill>
            <a:srgbClr val="E4F7F2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331720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whisper tiny.en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98648" y="2331720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44444"/>
                </a:solidFill>
                <a:latin typeface="Arial"/>
              </a:rPr>
              <a:t>74 MB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87367" y="2331720"/>
            <a:ext cx="1508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英文專用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41848" y="2331720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Arial"/>
              </a:rPr>
              <a:t>0.94s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9208" y="2331720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WER 9.3%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99448" y="2331720"/>
            <a:ext cx="2148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Microsoft JhengHei"/>
              </a:rPr>
              <a:t>★ 英文版採用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" y="2862072"/>
            <a:ext cx="10853928" cy="621792"/>
          </a:xfrm>
          <a:prstGeom prst="rect">
            <a:avLst/>
          </a:prstGeom>
          <a:solidFill>
            <a:srgbClr val="E4F7F2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2953512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whisper base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98648" y="2953512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44444"/>
                </a:solidFill>
                <a:latin typeface="Arial"/>
              </a:rPr>
              <a:t>141 MB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87367" y="2953512"/>
            <a:ext cx="1508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多語（含中文）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41848" y="2953512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Arial"/>
              </a:rPr>
              <a:t>6.8s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9208" y="2953512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端到端 8/8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9448" y="2953512"/>
            <a:ext cx="2148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Microsoft JhengHei"/>
              </a:rPr>
              <a:t>★ 中文版採用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" y="3483864"/>
            <a:ext cx="10853928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3575304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base.en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98648" y="3575304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67 MB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7" y="3575304"/>
            <a:ext cx="1508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英文專用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41848" y="3575304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2.33s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79208" y="3575304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WER 10.2%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99448" y="3575304"/>
            <a:ext cx="2148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比 tiny.en 慢又沒更準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" y="4105656"/>
            <a:ext cx="10853928" cy="621792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4197096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tiny（多語）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98648" y="4197096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74 MB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87367" y="4197096"/>
            <a:ext cx="1508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多語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41848" y="4197096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0.97s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79208" y="4197096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中文 1/8 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99448" y="4197096"/>
            <a:ext cx="2148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中文太差不能用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7512" y="4727448"/>
            <a:ext cx="10853928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4818888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Fun-ASR-Nano（原用）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98648" y="4818888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~800M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87367" y="4818888"/>
            <a:ext cx="1508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中文強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41848" y="4818888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2.5s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79208" y="4818888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真人 4/8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99448" y="4818888"/>
            <a:ext cx="2148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× 來源不符，已汰換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67512" y="5468112"/>
            <a:ext cx="10853928" cy="1078992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33272" y="5596128"/>
            <a:ext cx="10149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反直覺  </a:t>
            </a:r>
            <a:r>
              <a:rPr sz="1300" b="1">
                <a:solidFill>
                  <a:srgbClr val="FFFFFF"/>
                </a:solidFill>
                <a:latin typeface="Microsoft JhengHei"/>
              </a:rPr>
              <a:t>模型越大不一定越準：base.en 比 tiny.en 大、慢 2.5 倍，WER 反而略差</a:t>
            </a:r>
            <a:r>
              <a:rPr sz="1200" b="0">
                <a:solidFill>
                  <a:srgbClr val="BBBBBB"/>
                </a:solidFill>
                <a:latin typeface="Microsoft JhengHei"/>
              </a:rPr>
              <a:t>——倉管查詢句短、句型固定，tiny 容量已足夠。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3272" y="6062472"/>
            <a:ext cx="10149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選型準則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不能只看 WER，要看端到端答對率</a:t>
            </a:r>
            <a:r>
              <a:rPr sz="1200" b="0">
                <a:solidFill>
                  <a:srgbClr val="BBBBBB"/>
                </a:solidFill>
                <a:latin typeface="Microsoft JhengHei"/>
              </a:rPr>
              <a:t>——中文 base 字面只對 3/8，但端到端 8/8 全綠，聽錯的都被文字端容錯層救回。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部署架構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一套 runtime，中英各掛一顆模型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換成 whisper.cpp 後架構反而更簡單：單一模型檔、單一 binary，中英兩版共用同一套 runtime，只換 -m 參數。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2048256"/>
            <a:ext cx="566928" cy="566928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共用 Runtime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RPi5 源碼編譯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whisper-cli (whisper.cpp)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單一 binary 跑完 VAD、聲學編碼、解碼；中英兩版只差 -m 指到哪顆模型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51376" y="2830068"/>
            <a:ext cx="2194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99432" y="2048256"/>
            <a:ext cx="566928" cy="56692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9432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英文版模型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74 MB · 0.94s/句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ggml-tiny.en.bin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英文專用、展場主力；短句夠用，比 base.en 更快且 WER 更低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27264" y="2830068"/>
            <a:ext cx="2194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Arial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19288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5320" y="2048256"/>
            <a:ext cx="566928" cy="56692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79408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中文版模型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79408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141 MB · 6.8s/句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3608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ggml-base.bin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3608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多語權重（含中文）；輸出簡體故仍需 OpenCC 轉繁，中文版為備援展示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4379976"/>
            <a:ext cx="10789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實際部署管線（POST /api/asr，全程本機、無網路）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前端錄音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webm/opus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76856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468880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42032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ffmpeg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轉 16k mono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78224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70248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524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43400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08E76"/>
                </a:solidFill>
                <a:latin typeface="Microsoft JhengHei"/>
              </a:rPr>
              <a:t>whisper-cli</a:t>
            </a:r>
          </a:p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08E76"/>
                </a:solidFill>
                <a:latin typeface="Microsoft JhengHei"/>
              </a:rPr>
              <a:t>tiny.en / base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79592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71616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44768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OpenCC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簡→繁（僅中文）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72984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46136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出口正規化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大小寫/錯字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82328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674352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47504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倉管 WS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回答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67512" y="5852160"/>
            <a:ext cx="10853928" cy="713232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" y="5971032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RPi5 部署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whisper.cpp 在機上源碼編譯｜英文 0.94s/句、中文 6.8s/句｜兩顆模型合計僅 215 MB（原方案 910 MB）｜純 CPU、零 GPU、零雲端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展場噪音實測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念一次真人聲，自動測三種環境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方法突破：真人念一次乾淨版並存錄音，用同一份錄音自動混入賣場人潮噪音重測——對比最公平。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乾淨（正常音量）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一般展場 −18dB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37576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2168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2168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尖峰吵雜 −8dB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352044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3776472"/>
            <a:ext cx="219456" cy="21945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17320" y="359359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噪音幾乎零影響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5192" y="359359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一般展場 −1%、尖峰只 −5%；純被噪音壓垮的僅 5 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438912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4645152"/>
            <a:ext cx="219456" cy="219456"/>
          </a:xfrm>
          <a:prstGeom prst="ellipse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446227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音量才是關鍵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65192" y="446227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小聲時摩擦音（ㄕ/ㄘ）糊掉→亂猜；正常音量直接解決大半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525780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5513832"/>
            <a:ext cx="219456" cy="21945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17320" y="533095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Microsoft JhengHei"/>
              </a:rPr>
              <a:t>失敗多為 ASR 極限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65192" y="533095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整詞聽錯，訪客看辨識文字重講即可，非系統 bug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617220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8E76"/>
                </a:solidFill>
                <a:latin typeface="Microsoft JhengHei"/>
              </a:rPr>
              <a:t>結論：webcam + 270M + 正常音量＝展場夠用，不需升級模型或麥克風。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容錯設計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兩層容錯：拼音智慧比對 + 固定規則修正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270M 辨識不完美（滑鼠→華數/華族）。主角是「拼音容錯層」——把錯字轉拼音智慧比對；再配一層固定規則收尾。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65960"/>
            <a:ext cx="5806440" cy="342900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76272"/>
            <a:ext cx="5166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8E76"/>
                </a:solidFill>
                <a:latin typeface="Microsoft JhengHei"/>
              </a:rPr>
              <a:t>① 拼音容錯層</a:t>
            </a:r>
            <a:r>
              <a:rPr sz="1200" b="1">
                <a:solidFill>
                  <a:srgbClr val="00C49A"/>
                </a:solidFill>
                <a:latin typeface="Microsoft JhengHei"/>
              </a:rPr>
              <a:t>  · 主角 · 智慧比對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606040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A1A2E"/>
                </a:solidFill>
                <a:latin typeface="Microsoft JhengHei"/>
              </a:rPr>
              <a:t>字形救不到 → 轉拼音、滑窗比對商品名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03580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03580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同音字形遠：滑鼠 vs 華數，字形 0 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41985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41985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轉拼音一比即中：huashu ≈ huashu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80390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80390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音節還原 zu→zhu／su→shu，救捲舌混淆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18795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18795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滑窗掃句：核心名拼音是句拼音子串 → 命中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5720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5720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門檻 0.82 防誤配（衛生棉≠衛生紙）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495604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95604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字形優先、拼音救底 → 打字＋守衛零回歸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03720" y="1965960"/>
            <a:ext cx="4617720" cy="34290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96328" y="2176272"/>
            <a:ext cx="4069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0A030"/>
                </a:solidFill>
                <a:latin typeface="Microsoft JhengHei"/>
              </a:rPr>
              <a:t>② 固定規則修正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96328" y="2606040"/>
            <a:ext cx="4069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A1A2E"/>
                </a:solidFill>
                <a:latin typeface="Microsoft JhengHei"/>
              </a:rPr>
              <a:t>掛 ASR 出口，不碰倉管核心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96328" y="303580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34072" y="303580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倉別：總/藏/昌倉 → 中/北倉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96328" y="341985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34072" y="341985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動詞：近→進、谷→補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96328" y="380390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4072" y="380390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量詞：臺→台（OpenCC 差異）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8795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34072" y="418795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異體字：溼→濕、賬→帳、周→週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96328" y="45720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34072" y="45720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退貨中文數字豁免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96328" y="495604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34072" y="495604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打字訪客零影響、守衛零風險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" y="576072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分工：拼音層救「沒見過的音近錯」（會智慧比對）；規則層收「反覆出現的固定錯」（查表最快最穩）。下一頁看拼音層怎麼一步步救。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拼音修正流程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一個錯字怎麼被救回：字形先試，拼音救底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核心：ASR 錯字多是「音同、字形零重疊」——字形比對必敗，轉成拼音一比即中。全程純字串運算，RPi5 零負擔。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47088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FFFFF"/>
                </a:solidFill>
                <a:latin typeface="Microsoft JhengHei"/>
              </a:rPr>
              <a:t>輸入 keyword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56432" y="1847088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270M 抽出的商品詞（常髒／殘／錯）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2359152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555748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619756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① 字形比對優先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6432" y="261975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先走 LCS 字形比對，命中就用 → 不進拼音層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3131820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3328416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3392424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0A030"/>
                </a:solidFill>
                <a:latin typeface="Microsoft JhengHei"/>
              </a:rPr>
              <a:t>② 三道排除閘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6432" y="3392424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含寫入動詞／倉別／數字 → 不救；&gt;6 字 → 不救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7872" y="3904488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101084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4165092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③ 轉拼音 + 音節還原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56432" y="4165092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lazy_pinyin，捲舌平舌還原（zu→zhu、su→shu）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47872" y="4677156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873752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4937760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④ 滑窗比對商品拼音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432" y="4937760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核心名拼音 vs 句拼音，difflib 取最佳對齊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47872" y="544982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" y="5646420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710428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⑤ 門檻 0.82 判定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56432" y="5710428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≥0.82 救回；否則回空 → 交 clarify 反問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14032" y="1783080"/>
            <a:ext cx="4407408" cy="470916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06640" y="1965960"/>
            <a:ext cx="382219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C49A"/>
                </a:solidFill>
                <a:latin typeface="Microsoft JhengHei"/>
              </a:rPr>
              <a:t>實例：「北倉的滑鼠有多少」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0" y="239572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ASR 聽成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51392" y="239572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北倉的華數有多少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0" y="289864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抽 keyword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51392" y="289864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華數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340156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① 字形比對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51392" y="340156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華數 vs 滑鼠 → 0 重疊，失敗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6640" y="390448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② 排除閘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51392" y="390448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無寫入詞／無數字／2 字 → 放行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06640" y="440740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③ 轉拼音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51392" y="440740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華數 = huashu（su→shu 還原）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06640" y="491032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④ 滑窗比對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51392" y="491032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滑鼠 huashu ⊂ 句拼音 → 命中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06640" y="541324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⑤ 門檻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51392" y="541324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0.95 ≥ 0.82 → 救回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06640" y="591616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結果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51392" y="591616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→ 無線滑鼠 ✓ 答對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救回實例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ASR 聽錯，容錯層照樣答對（真人聲實測）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以下全是 2026-07 真人聲實測（webcam）的原始紀錄：ASR 明明聽錯，經容錯層修正後結果正確。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10853928" cy="420624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84708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訪客原句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88536" y="184708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ASR 聽成（錯）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63256" y="184708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容錯層救回 → 答對</a:t>
            </a:r>
          </a:p>
        </p:txBody>
      </p:sp>
      <p:sp>
        <p:nvSpPr>
          <p:cNvPr id="9" name="Rectangle 8"/>
          <p:cNvSpPr/>
          <p:nvPr/>
        </p:nvSpPr>
        <p:spPr>
          <a:xfrm>
            <a:off x="667512" y="2203704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224942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北倉進五十個滑鼠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88536" y="224942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北藏近五十個華族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63256" y="2249424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藏→倉·近→進·華族→滑鼠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" y="2601468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" y="264718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幫我在北倉加五十個滑鼠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88536" y="264718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…加五十個花束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63256" y="264718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花束→滑鼠（拼音同音）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7512" y="2999232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" y="304495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藍牙耳機庫存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88536" y="3044952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藍芽耳機庫存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63256" y="3044952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藍芽→藍牙（OpenCC 用語）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7512" y="3396996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3442716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中倉衛生紙還有嗎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88536" y="3442716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中餐衛生紙還有嗎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63256" y="3442716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中餐→中倉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7512" y="3794760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840480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運動壓縮臂套庫存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88536" y="3840480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運動壓縮筆套庫存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63256" y="3840480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筆套→臂套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" y="4192524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5528" y="423824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精釀啤酒庫存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8536" y="423824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儘量啤酒庫存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63256" y="4238244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儘量→精釀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" y="4590288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5528" y="463600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防蚊液庫存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88536" y="463600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防蚊衣庫存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63256" y="463600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防蚊衣→防蚊液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67512" y="4988052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5528" y="503377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衛生紙的帳對不上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88536" y="5033772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衛生紙的賬對不上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63256" y="5033772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賬→帳（異體字）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7512" y="5385816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5528" y="5431536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南倉出十五個瑜珈墊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88536" y="5431536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南倉出十五個瑜伽墊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63256" y="5431536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瑜伽→瑜珈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67512" y="5943600"/>
            <a:ext cx="10853928" cy="65836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7552" y="6062472"/>
            <a:ext cx="102412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為何拼音救得到：  </a:t>
            </a:r>
            <a:r>
              <a:rPr sz="1200" b="0">
                <a:solidFill>
                  <a:srgbClr val="444444"/>
                </a:solidFill>
                <a:latin typeface="Arial"/>
              </a:rPr>
              <a:t>華數 huashu = 滑鼠 huashu（完全同音）｜藍雅爾基 lanyaerji = 藍牙耳機 lanyaerji｜到齊 daoqi = 到期 daoqi</a:t>
            </a:r>
            <a:r>
              <a:rPr sz="1200" b="0">
                <a:solidFill>
                  <a:srgbClr val="444444"/>
                </a:solidFill>
                <a:latin typeface="Microsoft JhengHei"/>
              </a:rPr>
              <a:t>  → 字形零重疊、拼音一比即中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極限與對策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救不回的也照實講：270M 的天花板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誠實區分：同音/音近能救；但 ASR 把整詞聽成毫不相干的詞（字形+發音都差），容錯層無能為力。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6537960" cy="37947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947672"/>
            <a:ext cx="6035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85D5D"/>
                </a:solidFill>
                <a:latin typeface="Microsoft JhengHei"/>
              </a:rPr>
              <a:t>整詞崩壞 → 救不回（FAIL）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3774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77777"/>
                </a:solidFill>
                <a:latin typeface="Microsoft JhengHei"/>
              </a:rPr>
              <a:t>原句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96512" y="23774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77777"/>
                </a:solidFill>
                <a:latin typeface="Microsoft JhengHei"/>
              </a:rPr>
              <a:t>ASR 聽成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67004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瑜珈墊有貨嗎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6512" y="26700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女藥店有貨嗎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10438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露營帳篷有貨嗎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6512" y="31043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女人占房有好嗎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53872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北倉的滑鼠有多少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96512" y="353872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北倉的瓦數有多少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" y="397306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有缺的列出來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96512" y="397306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有趣的列出來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" y="440740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北倉進三十瓶防蚊液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96512" y="440740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…近三十品防瘟疫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484174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南倉收了三十個啤酒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96512" y="48417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…收了三十個皮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" y="527608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啞鈴庫存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96512" y="52760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10 庫存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79" y="1783080"/>
            <a:ext cx="4023360" cy="379476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90687" y="19476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C49A"/>
                </a:solidFill>
                <a:latin typeface="Microsoft JhengHei"/>
              </a:rPr>
              <a:t>對策：人在迴路即容錯</a:t>
            </a:r>
          </a:p>
        </p:txBody>
      </p:sp>
      <p:sp>
        <p:nvSpPr>
          <p:cNvPr id="25" name="Oval 24"/>
          <p:cNvSpPr/>
          <p:nvPr/>
        </p:nvSpPr>
        <p:spPr>
          <a:xfrm>
            <a:off x="7790687" y="239572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90687" y="238201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語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9" y="235915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前端即時顯示辨識文字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9" y="263347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訪客看到「女藥店」明顯不對，自然會重講一次</a:t>
            </a:r>
          </a:p>
        </p:txBody>
      </p:sp>
      <p:sp>
        <p:nvSpPr>
          <p:cNvPr id="29" name="Oval 28"/>
          <p:cNvSpPr/>
          <p:nvPr/>
        </p:nvSpPr>
        <p:spPr>
          <a:xfrm>
            <a:off x="7790687" y="317296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90687" y="315925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19" y="313639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不硬編同音規則硬猜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19" y="341071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亂編規則救個案，會誤傷別句、風險大於效益</a:t>
            </a:r>
          </a:p>
        </p:txBody>
      </p:sp>
      <p:sp>
        <p:nvSpPr>
          <p:cNvPr id="33" name="Oval 32"/>
          <p:cNvSpPr/>
          <p:nvPr/>
        </p:nvSpPr>
        <p:spPr>
          <a:xfrm>
            <a:off x="7790687" y="395020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90687" y="393649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19" y="391363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音量才是主因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19" y="418795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小聲時摩擦音 ㄕ/ㄘ 糊掉；展場大聲對麥＝多半消失</a:t>
            </a:r>
          </a:p>
        </p:txBody>
      </p:sp>
      <p:sp>
        <p:nvSpPr>
          <p:cNvPr id="37" name="Oval 36"/>
          <p:cNvSpPr/>
          <p:nvPr/>
        </p:nvSpPr>
        <p:spPr>
          <a:xfrm>
            <a:off x="7790687" y="472744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90687" y="471373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19" y="469087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展後回饋閉環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19" y="496519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展場問答入 journal，事後撈真實錯句補規則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" y="580644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分寸：容錯層只救「聽得出是同一個音」的錯——救得到的自動救、救不到的交給人重講，絕不亂猜幻覺出錯商品。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路線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做英文版不是翻譯——翻譯會讓招牌能力全滅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老闆要全英文版。動工前先用探針餵分級英文句給現有模型，量出「翻譯路線」到底會壞在哪——結論決定了整條路線。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5321808" cy="32004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920240"/>
            <a:ext cx="4754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探針實測：純翻譯會壞在哪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3317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8E76"/>
                </a:solidFill>
                <a:latin typeface="Arial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71016" y="2313432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乾淨查詢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1016" y="2587752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how many bluetooth earphones left → 答對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535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71016" y="2935224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英文錯字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71016" y="3209544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earphon → 完全對不到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5753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1016" y="3557016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模糊描述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71016" y="3831336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the thing that charges phone → 不懂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1970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71016" y="4178808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寫入 / 調貨 / RCA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71016" y="4453128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add / move / why → 全歸零查詢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1783080"/>
            <a:ext cx="5321808" cy="32004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3952" y="1920240"/>
            <a:ext cx="4754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三條路線，選了中間那條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73952" y="2377440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56832" y="2432304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777777"/>
                </a:solidFill>
                <a:latin typeface="Microsoft JhengHei"/>
              </a:rPr>
              <a:t>翻譯層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56832" y="2724912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最省事，但容錯層先崩就輪不到後面——等於白費版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73952" y="3218688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651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56832" y="3273552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★ 補英文語料微調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832" y="3566160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Gemma 英文底子還在，教它這套系統的 tool 慣例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3952" y="4059936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56832" y="4114800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777777"/>
                </a:solidFill>
                <a:latin typeface="Microsoft JhengHei"/>
              </a:rPr>
              <a:t>全部重訓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832" y="4407408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成本最高，但 base 英文能力本來就在，沒必要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" y="5138928"/>
            <a:ext cx="10853928" cy="1408176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2" y="5285232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三方對照：同一份 34 句英文評測集（本機 llama.cpp 實跑）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777777"/>
                </a:solidFill>
                <a:latin typeface="Arial"/>
              </a:rPr>
              <a:t>11%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5915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base 未微調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看得懂英文，但不知道該叫哪個 tool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Arial"/>
              </a:rPr>
              <a:t>32%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7959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中文微調版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71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tool 慣例跨語言遷移——用中文學的可套到英文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7415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0C49A"/>
                </a:solidFill>
                <a:latin typeface="Arial"/>
              </a:rPr>
              <a:t>73%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0003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英文微調版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7415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基本查詢 12/12、錯字全中、RCA 3/3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真正的工作量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移植的難處不在模型，在散落各處的語言假設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模型換好只是開始。真正吃時間的是三個月為中文磨出來的規則層——每一條都藏著「這是中文」的隱含假設。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" y="1755648"/>
            <a:ext cx="64008" cy="768096"/>
          </a:xfrm>
          <a:prstGeom prst="rect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828800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222A45"/>
                </a:solidFill>
                <a:latin typeface="Microsoft JhengHei"/>
              </a:rPr>
              <a:t>詞表是中文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157984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10712" y="1828800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_ALL_INTENT_WORDS 等 21 個詞表全中文 → 英文句一個都不命中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10712" y="2157984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71232" y="1938528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英文句被判成「只有商品名沒動作」，整批轉 clarify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2615184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7512" y="2615184"/>
            <a:ext cx="64008" cy="768096"/>
          </a:xfrm>
          <a:prstGeom prst="rect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688336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對照表的鍵是中文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" y="3017520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0712" y="2688336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{"電子": "electronics"} ——值是英文、鍵是中文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10712" y="3017520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71232" y="2798064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6 個類別 5 個查不到，整條類別查詢功能靜默失效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7512" y="3474720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67512" y="3474720"/>
            <a:ext cx="64008" cy="76809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" y="3547872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門檻用中文字元數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" y="3877056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10712" y="3547872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長句判定 &gt;30 字元；英文字元數是中文的 2-3 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10712" y="3877056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71232" y="3657600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正常英文句被當長句，幾乎全部繞過 LLM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" y="4334256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7512" y="4334256"/>
            <a:ext cx="64008" cy="76809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" y="4407408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演算法假設中文形態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" y="4736592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10712" y="4407408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split()[0] 剝規格尾巴——中文沒空白所以安全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10712" y="4736592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71232" y="4517136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5D5D"/>
                </a:solidFill>
                <a:latin typeface="Microsoft JhengHei"/>
              </a:rPr>
              <a:t>`Wireless Mouse` 被腰斬成 `Wireless` → 改到錯的商品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" y="5193792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67512" y="5193792"/>
            <a:ext cx="64008" cy="76809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3544" y="5266944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英文撇號炸掉 JS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44" y="5596128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10712" y="5266944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'Didn't catch that' ——英文化產生的撇號沒跳脫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10712" y="5596128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71232" y="5376672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5D5D"/>
                </a:solidFill>
                <a:latin typeface="Microsoft JhengHei"/>
              </a:rPr>
              <a:t>整份 JS 停擺：畫面正常但 WebSocket 從沒建立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7512" y="6053328"/>
            <a:ext cx="10853928" cy="56692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3272" y="6144768"/>
            <a:ext cx="10149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找法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逐句追 log 看實際執行路徑，不要只看輸入輸出猜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——log 常見 clf 判對、模型也判對，卻被中文導向的守衛改掉。共歸納 19 類坑。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收斂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從 651 到 892/892：把「可靠」再證明一次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英文版建了獨立的 892 句守衛庫（不是翻譯中文守衛——英文有自己的邊界：錯字型態、俗稱、閒聊搗蛋）。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892/892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英文守衛通過率 100%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5878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19 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5878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移植坑歸納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9652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25 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9652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view 逐一看過畫面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8834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3426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3426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已知未修破口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063240"/>
            <a:ext cx="10789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收斂過程：每一次跳動都是一批結構性 bug 被找出來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651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首跑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18104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47288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47288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873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57016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13 輪規則層英文化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97880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27064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27064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891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錯字長尾靠修復層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77656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778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06840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8E76"/>
                </a:solidFill>
                <a:latin typeface="Arial"/>
              </a:rPr>
              <a:t>892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16568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詞典把關收尾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" y="4709160"/>
            <a:ext cx="5321808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3544" y="482803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「救不了」要有證據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" y="5138928"/>
            <a:ext cx="48463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兩次把「試過一種做法沒成功」寫成「這類問題無解」。最後一句錯字靠系統內建英文詞典區分「真詞 vs 錯字」修掉——訊號一直都在，只是沒接上。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99632" y="4709160"/>
            <a:ext cx="5321808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55664" y="482803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看畫面才算審完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5664" y="5138928"/>
            <a:ext cx="48463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守衛全綠不等於畫面對。改用截圖逐一看 25 個 view，抓到 JSON 完全看不到的破口：卡片承諾「說 delete AL001」，照打卻回查無此商品。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" y="6181344"/>
            <a:ext cx="10853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555555"/>
                </a:solidFill>
                <a:latin typeface="Microsoft JhengHei"/>
              </a:rPr>
              <a:t>中英雙版並存：RPi5 同時跑 8002（英文，展場主力）與 8001（中文備援），開機自啟、訪客點分頁切換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64008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Arial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05156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FFFFF"/>
                </a:solidFill>
                <a:latin typeface="Microsoft JhengHei"/>
              </a:rPr>
              <a:t>一句話查倉管，跑在樹莓派，品質可證明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1755648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1832" y="1920240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90195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19072" y="1865376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價值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1865376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自然語言問倉管，一秒回答；手機掃碼、離線可用、硬體成本極低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606040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1832" y="2770632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75234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19072" y="2715768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技術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82112" y="2715768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270M 小模型當路由器 + 規則層當決策者，業界邊緣 Agent 的正解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456432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41832" y="3621024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60273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19072" y="3566160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品質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82112" y="3566160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中文 1122 句雙平台 100%、英文 892 句 100%；「可靠」是數字不是祈禱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306824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1832" y="4471416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" y="445312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19072" y="4416552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語音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82112" y="4416552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全離線 whisper；英文 0.94s / 句，中英共用一套 runtime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" y="5157216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41832" y="532180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832" y="530352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19072" y="5266944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雙語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82112" y="5266944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中英雙版同機並存，訪客點分頁切換；移植 19 類坑已歸納成方法論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" y="6089904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下一步：展前真機全量驗收、demo 基準日對齊——重置鈕 / 開機自啟 / Wi-Fi 自癒 / 中英雙版並存已完成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